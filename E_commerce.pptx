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4"/>
  </p:notesMasterIdLst>
  <p:sldIdLst>
    <p:sldId id="256" r:id="rId2"/>
    <p:sldId id="258" r:id="rId3"/>
    <p:sldId id="259" r:id="rId4"/>
    <p:sldId id="260" r:id="rId5"/>
    <p:sldId id="261" r:id="rId6"/>
    <p:sldId id="262" r:id="rId7"/>
    <p:sldId id="264" r:id="rId8"/>
    <p:sldId id="265" r:id="rId9"/>
    <p:sldId id="266" r:id="rId10"/>
    <p:sldId id="268"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F16118-3671-4E5D-BB5C-74BE8D613FC2}">
          <p14:sldIdLst>
            <p14:sldId id="256"/>
            <p14:sldId id="258"/>
            <p14:sldId id="259"/>
          </p14:sldIdLst>
        </p14:section>
        <p14:section name="Untitled Section" id="{ED6C38B3-03AF-45A5-995E-E7FBC898CE60}">
          <p14:sldIdLst>
            <p14:sldId id="260"/>
            <p14:sldId id="261"/>
            <p14:sldId id="262"/>
            <p14:sldId id="264"/>
            <p14:sldId id="265"/>
            <p14:sldId id="266"/>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83" d="100"/>
          <a:sy n="83" d="100"/>
        </p:scale>
        <p:origin x="34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276A8A-CCE9-4E70-9475-02B0E27E8C44}"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GB"/>
        </a:p>
      </dgm:t>
    </dgm:pt>
    <dgm:pt modelId="{8145CC7A-D0D5-4437-A07A-CCA754198E06}">
      <dgm:prSet/>
      <dgm:spPr/>
      <dgm:t>
        <a:bodyPr/>
        <a:lstStyle/>
        <a:p>
          <a:pPr>
            <a:lnSpc>
              <a:spcPct val="100000"/>
            </a:lnSpc>
            <a:defRPr b="1"/>
          </a:pPr>
          <a:r>
            <a:rPr lang="en-GB"/>
            <a:t>RFM Scoring Explained</a:t>
          </a:r>
        </a:p>
      </dgm:t>
    </dgm:pt>
    <dgm:pt modelId="{6C20E2A9-43A4-41F5-9280-A28AF37E1154}" type="parTrans" cxnId="{753372C8-7C15-4864-9070-D38936C15B92}">
      <dgm:prSet/>
      <dgm:spPr/>
      <dgm:t>
        <a:bodyPr/>
        <a:lstStyle/>
        <a:p>
          <a:endParaRPr lang="en-GB"/>
        </a:p>
      </dgm:t>
    </dgm:pt>
    <dgm:pt modelId="{8E1DE228-3206-4AE9-AC34-1A1350050770}" type="sibTrans" cxnId="{753372C8-7C15-4864-9070-D38936C15B92}">
      <dgm:prSet/>
      <dgm:spPr/>
      <dgm:t>
        <a:bodyPr/>
        <a:lstStyle/>
        <a:p>
          <a:pPr>
            <a:lnSpc>
              <a:spcPct val="100000"/>
            </a:lnSpc>
            <a:defRPr b="1"/>
          </a:pPr>
          <a:endParaRPr lang="en-GB"/>
        </a:p>
      </dgm:t>
    </dgm:pt>
    <dgm:pt modelId="{D166C875-6CCA-4B4C-A828-F671BDE04FE1}">
      <dgm:prSet/>
      <dgm:spPr/>
      <dgm:t>
        <a:bodyPr/>
        <a:lstStyle/>
        <a:p>
          <a:pPr>
            <a:lnSpc>
              <a:spcPct val="100000"/>
            </a:lnSpc>
          </a:pPr>
          <a:r>
            <a:rPr lang="en-GB"/>
            <a:t>Customers are scored on recency, frequency, and monetary value to assess their engagement and value to the business.</a:t>
          </a:r>
        </a:p>
      </dgm:t>
    </dgm:pt>
    <dgm:pt modelId="{A687A429-B7D1-4C35-9908-91091E2793BD}" type="parTrans" cxnId="{6A90E433-6F23-41C4-9890-F5AB6D249BA6}">
      <dgm:prSet/>
      <dgm:spPr/>
      <dgm:t>
        <a:bodyPr/>
        <a:lstStyle/>
        <a:p>
          <a:endParaRPr lang="en-GB"/>
        </a:p>
      </dgm:t>
    </dgm:pt>
    <dgm:pt modelId="{A1D1DEA6-61B7-471A-9CF1-6471ADE614C2}" type="sibTrans" cxnId="{6A90E433-6F23-41C4-9890-F5AB6D249BA6}">
      <dgm:prSet/>
      <dgm:spPr/>
      <dgm:t>
        <a:bodyPr/>
        <a:lstStyle/>
        <a:p>
          <a:endParaRPr lang="en-GB"/>
        </a:p>
      </dgm:t>
    </dgm:pt>
    <dgm:pt modelId="{40D3C588-D812-47E7-B24A-2346A64F720A}">
      <dgm:prSet/>
      <dgm:spPr/>
      <dgm:t>
        <a:bodyPr/>
        <a:lstStyle/>
        <a:p>
          <a:pPr>
            <a:lnSpc>
              <a:spcPct val="100000"/>
            </a:lnSpc>
            <a:defRPr b="1"/>
          </a:pPr>
          <a:r>
            <a:rPr lang="en-GB"/>
            <a:t>RFM Segment Usage</a:t>
          </a:r>
        </a:p>
      </dgm:t>
    </dgm:pt>
    <dgm:pt modelId="{BFEC22F5-0FA9-4C42-AE86-512D80A71D77}" type="parTrans" cxnId="{9F343DB4-223D-4B2D-A2FA-5441DABA9A56}">
      <dgm:prSet/>
      <dgm:spPr/>
      <dgm:t>
        <a:bodyPr/>
        <a:lstStyle/>
        <a:p>
          <a:endParaRPr lang="en-GB"/>
        </a:p>
      </dgm:t>
    </dgm:pt>
    <dgm:pt modelId="{6197D758-995F-4536-8C5F-F0385743A613}" type="sibTrans" cxnId="{9F343DB4-223D-4B2D-A2FA-5441DABA9A56}">
      <dgm:prSet/>
      <dgm:spPr/>
      <dgm:t>
        <a:bodyPr/>
        <a:lstStyle/>
        <a:p>
          <a:pPr>
            <a:lnSpc>
              <a:spcPct val="100000"/>
            </a:lnSpc>
            <a:defRPr b="1"/>
          </a:pPr>
          <a:endParaRPr lang="en-GB"/>
        </a:p>
      </dgm:t>
    </dgm:pt>
    <dgm:pt modelId="{4EC7BD36-052B-40C2-8251-140B340BD48B}">
      <dgm:prSet/>
      <dgm:spPr/>
      <dgm:t>
        <a:bodyPr/>
        <a:lstStyle/>
        <a:p>
          <a:pPr>
            <a:lnSpc>
              <a:spcPct val="100000"/>
            </a:lnSpc>
          </a:pPr>
          <a:r>
            <a:rPr lang="en-GB"/>
            <a:t>Combined RFM scores create segments, enabling targeted marketing campaigns to reach specific customer groups effectively.</a:t>
          </a:r>
        </a:p>
      </dgm:t>
    </dgm:pt>
    <dgm:pt modelId="{89014BD3-471E-4737-93E6-246954FEC455}" type="parTrans" cxnId="{98556581-A838-41DE-AD3E-77DC8D9AD889}">
      <dgm:prSet/>
      <dgm:spPr/>
      <dgm:t>
        <a:bodyPr/>
        <a:lstStyle/>
        <a:p>
          <a:endParaRPr lang="en-GB"/>
        </a:p>
      </dgm:t>
    </dgm:pt>
    <dgm:pt modelId="{E9326203-72FA-4C94-B8F1-E10A57477170}" type="sibTrans" cxnId="{98556581-A838-41DE-AD3E-77DC8D9AD889}">
      <dgm:prSet/>
      <dgm:spPr/>
      <dgm:t>
        <a:bodyPr/>
        <a:lstStyle/>
        <a:p>
          <a:endParaRPr lang="en-GB"/>
        </a:p>
      </dgm:t>
    </dgm:pt>
    <dgm:pt modelId="{A6DF633E-48BD-479B-B6C4-897820703A1F}">
      <dgm:prSet/>
      <dgm:spPr/>
      <dgm:t>
        <a:bodyPr/>
        <a:lstStyle/>
        <a:p>
          <a:pPr>
            <a:lnSpc>
              <a:spcPct val="100000"/>
            </a:lnSpc>
            <a:defRPr b="1"/>
          </a:pPr>
          <a:r>
            <a:rPr lang="en-GB"/>
            <a:t>Deciling for Actionable Insights</a:t>
          </a:r>
        </a:p>
      </dgm:t>
    </dgm:pt>
    <dgm:pt modelId="{0E63E2FC-22BE-4179-A1B9-8CB1E535D091}" type="parTrans" cxnId="{2DA43CC7-BB73-4B3B-B607-43F6E48331CF}">
      <dgm:prSet/>
      <dgm:spPr/>
      <dgm:t>
        <a:bodyPr/>
        <a:lstStyle/>
        <a:p>
          <a:endParaRPr lang="en-GB"/>
        </a:p>
      </dgm:t>
    </dgm:pt>
    <dgm:pt modelId="{C14C25BD-9EFC-49BF-AADC-BA9E4C70131A}" type="sibTrans" cxnId="{2DA43CC7-BB73-4B3B-B607-43F6E48331CF}">
      <dgm:prSet/>
      <dgm:spPr/>
      <dgm:t>
        <a:bodyPr/>
        <a:lstStyle/>
        <a:p>
          <a:endParaRPr lang="en-GB"/>
        </a:p>
      </dgm:t>
    </dgm:pt>
    <dgm:pt modelId="{3B86FB68-AE78-47CF-9A9A-53428DB07F47}">
      <dgm:prSet/>
      <dgm:spPr/>
      <dgm:t>
        <a:bodyPr/>
        <a:lstStyle/>
        <a:p>
          <a:pPr>
            <a:lnSpc>
              <a:spcPct val="100000"/>
            </a:lnSpc>
          </a:pPr>
          <a:r>
            <a:rPr lang="en-GB"/>
            <a:t>Deciling sorts customers into ten groups, providing clear, actionable divisions for comparison and strategic marketing.</a:t>
          </a:r>
        </a:p>
      </dgm:t>
    </dgm:pt>
    <dgm:pt modelId="{BF390008-2FFD-4A11-BA5B-80DC17E16ECB}" type="parTrans" cxnId="{D7EFB85D-6631-450F-AB8B-F3B524EB9AA8}">
      <dgm:prSet/>
      <dgm:spPr/>
      <dgm:t>
        <a:bodyPr/>
        <a:lstStyle/>
        <a:p>
          <a:endParaRPr lang="en-GB"/>
        </a:p>
      </dgm:t>
    </dgm:pt>
    <dgm:pt modelId="{30BFD0EB-6BB1-4E09-A007-D84ACE71A47C}" type="sibTrans" cxnId="{D7EFB85D-6631-450F-AB8B-F3B524EB9AA8}">
      <dgm:prSet/>
      <dgm:spPr/>
      <dgm:t>
        <a:bodyPr/>
        <a:lstStyle/>
        <a:p>
          <a:endParaRPr lang="en-GB"/>
        </a:p>
      </dgm:t>
    </dgm:pt>
    <dgm:pt modelId="{FE1075F2-E522-4F02-9995-6A017F81506F}" type="pres">
      <dgm:prSet presAssocID="{A7276A8A-CCE9-4E70-9475-02B0E27E8C44}" presName="Root" presStyleCnt="0">
        <dgm:presLayoutVars>
          <dgm:dir/>
          <dgm:resizeHandles val="exact"/>
        </dgm:presLayoutVars>
      </dgm:prSet>
      <dgm:spPr/>
    </dgm:pt>
    <dgm:pt modelId="{D8AE2D43-9F6E-4DA4-9BF7-4F025EC9C3A7}" type="pres">
      <dgm:prSet presAssocID="{8145CC7A-D0D5-4437-A07A-CCA754198E06}" presName="Composite" presStyleCnt="0"/>
      <dgm:spPr/>
    </dgm:pt>
    <dgm:pt modelId="{AF54126C-2E01-4F41-B7B3-2110F3EA7852}" type="pres">
      <dgm:prSet presAssocID="{8145CC7A-D0D5-4437-A07A-CCA754198E0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940" r="31309" b="-1"/>
          <a:stretch/>
        </a:blipFill>
      </dgm:spPr>
      <dgm:extLst>
        <a:ext uri="{E40237B7-FDA0-4F09-8148-C483321AD2D9}">
          <dgm14:cNvPr xmlns:dgm14="http://schemas.microsoft.com/office/drawing/2010/diagram" id="0" name="" descr="numerals and finance"/>
        </a:ext>
      </dgm:extLst>
    </dgm:pt>
    <dgm:pt modelId="{45D7541E-DF98-4E7C-86E1-E089FDE1FD4D}" type="pres">
      <dgm:prSet presAssocID="{8145CC7A-D0D5-4437-A07A-CCA754198E06}" presName="Subtitle" presStyleLbl="revTx" presStyleIdx="0" presStyleCnt="6">
        <dgm:presLayoutVars>
          <dgm:chMax val="0"/>
          <dgm:bulletEnabled/>
        </dgm:presLayoutVars>
      </dgm:prSet>
      <dgm:spPr/>
    </dgm:pt>
    <dgm:pt modelId="{272ECE10-F76E-4A7B-9023-7E57009B322F}" type="pres">
      <dgm:prSet presAssocID="{8145CC7A-D0D5-4437-A07A-CCA754198E06}" presName="Description" presStyleLbl="revTx" presStyleIdx="1" presStyleCnt="6">
        <dgm:presLayoutVars>
          <dgm:bulletEnabled/>
        </dgm:presLayoutVars>
      </dgm:prSet>
      <dgm:spPr/>
    </dgm:pt>
    <dgm:pt modelId="{B3D0320C-E6E9-44B4-82BC-2580A173E17E}" type="pres">
      <dgm:prSet presAssocID="{8E1DE228-3206-4AE9-AC34-1A1350050770}" presName="sibTrans" presStyleLbl="sibTrans2D1" presStyleIdx="0" presStyleCnt="0"/>
      <dgm:spPr/>
    </dgm:pt>
    <dgm:pt modelId="{60F30159-ACCA-49EB-AB8D-9F58C3AC54E9}" type="pres">
      <dgm:prSet presAssocID="{40D3C588-D812-47E7-B24A-2346A64F720A}" presName="Composite" presStyleCnt="0"/>
      <dgm:spPr/>
    </dgm:pt>
    <dgm:pt modelId="{8CBECC61-DEFB-4176-9535-AEAE1B925EA8}" type="pres">
      <dgm:prSet presAssocID="{40D3C588-D812-47E7-B24A-2346A64F720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t="33249" r="-1" b="1"/>
          <a:stretch/>
        </a:blipFill>
      </dgm:spPr>
      <dgm:extLst>
        <a:ext uri="{E40237B7-FDA0-4F09-8148-C483321AD2D9}">
          <dgm14:cNvPr xmlns:dgm14="http://schemas.microsoft.com/office/drawing/2010/diagram" id="0" name="" descr="Playing fictional board game with pawns"/>
        </a:ext>
      </dgm:extLst>
    </dgm:pt>
    <dgm:pt modelId="{45690A18-FE4C-4A06-8ABA-D98E4D77D3BB}" type="pres">
      <dgm:prSet presAssocID="{40D3C588-D812-47E7-B24A-2346A64F720A}" presName="Subtitle" presStyleLbl="revTx" presStyleIdx="2" presStyleCnt="6">
        <dgm:presLayoutVars>
          <dgm:chMax val="0"/>
          <dgm:bulletEnabled/>
        </dgm:presLayoutVars>
      </dgm:prSet>
      <dgm:spPr/>
    </dgm:pt>
    <dgm:pt modelId="{8AA11F2F-4C2D-4042-919C-BA4B21838552}" type="pres">
      <dgm:prSet presAssocID="{40D3C588-D812-47E7-B24A-2346A64F720A}" presName="Description" presStyleLbl="revTx" presStyleIdx="3" presStyleCnt="6">
        <dgm:presLayoutVars>
          <dgm:bulletEnabled/>
        </dgm:presLayoutVars>
      </dgm:prSet>
      <dgm:spPr/>
    </dgm:pt>
    <dgm:pt modelId="{CEE7810A-D033-41A3-A610-57BD1A06827D}" type="pres">
      <dgm:prSet presAssocID="{6197D758-995F-4536-8C5F-F0385743A613}" presName="sibTrans" presStyleLbl="sibTrans2D1" presStyleIdx="0" presStyleCnt="0"/>
      <dgm:spPr/>
    </dgm:pt>
    <dgm:pt modelId="{CCDDE439-2D42-4F1E-8A66-3D9B3CDD29B0}" type="pres">
      <dgm:prSet presAssocID="{A6DF633E-48BD-479B-B6C4-897820703A1F}" presName="Composite" presStyleCnt="0"/>
      <dgm:spPr/>
    </dgm:pt>
    <dgm:pt modelId="{CCDB2723-E861-4DB7-B937-ADB336E45C21}" type="pres">
      <dgm:prSet presAssocID="{A6DF633E-48BD-479B-B6C4-897820703A1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6609" r="16640" b="-1"/>
          <a:stretch/>
        </a:blipFill>
      </dgm:spPr>
      <dgm:extLst>
        <a:ext uri="{E40237B7-FDA0-4F09-8148-C483321AD2D9}">
          <dgm14:cNvPr xmlns:dgm14="http://schemas.microsoft.com/office/drawing/2010/diagram" id="0" name="" descr="Teamwork organization group organization hierarchy"/>
        </a:ext>
      </dgm:extLst>
    </dgm:pt>
    <dgm:pt modelId="{248B7D42-EDAF-4101-BCA3-88E583AE873B}" type="pres">
      <dgm:prSet presAssocID="{A6DF633E-48BD-479B-B6C4-897820703A1F}" presName="Subtitle" presStyleLbl="revTx" presStyleIdx="4" presStyleCnt="6">
        <dgm:presLayoutVars>
          <dgm:chMax val="0"/>
          <dgm:bulletEnabled/>
        </dgm:presLayoutVars>
      </dgm:prSet>
      <dgm:spPr/>
    </dgm:pt>
    <dgm:pt modelId="{275FE5A0-65F6-433E-A894-A1A1E53BC3EA}" type="pres">
      <dgm:prSet presAssocID="{A6DF633E-48BD-479B-B6C4-897820703A1F}" presName="Description" presStyleLbl="revTx" presStyleIdx="5" presStyleCnt="6">
        <dgm:presLayoutVars>
          <dgm:bulletEnabled/>
        </dgm:presLayoutVars>
      </dgm:prSet>
      <dgm:spPr/>
    </dgm:pt>
  </dgm:ptLst>
  <dgm:cxnLst>
    <dgm:cxn modelId="{6A90E433-6F23-41C4-9890-F5AB6D249BA6}" srcId="{8145CC7A-D0D5-4437-A07A-CCA754198E06}" destId="{D166C875-6CCA-4B4C-A828-F671BDE04FE1}" srcOrd="0" destOrd="0" parTransId="{A687A429-B7D1-4C35-9908-91091E2793BD}" sibTransId="{A1D1DEA6-61B7-471A-9CF1-6471ADE614C2}"/>
    <dgm:cxn modelId="{DEEDD938-FC58-4F00-BB75-89DAE888001F}" type="presOf" srcId="{6197D758-995F-4536-8C5F-F0385743A613}" destId="{CEE7810A-D033-41A3-A610-57BD1A06827D}" srcOrd="0" destOrd="0" presId="urn:microsoft.com/office/officeart/2024/3/layout/verticalVisualTextBlock1"/>
    <dgm:cxn modelId="{D7EFB85D-6631-450F-AB8B-F3B524EB9AA8}" srcId="{A6DF633E-48BD-479B-B6C4-897820703A1F}" destId="{3B86FB68-AE78-47CF-9A9A-53428DB07F47}" srcOrd="0" destOrd="0" parTransId="{BF390008-2FFD-4A11-BA5B-80DC17E16ECB}" sibTransId="{30BFD0EB-6BB1-4E09-A007-D84ACE71A47C}"/>
    <dgm:cxn modelId="{B259DD47-4077-4F8A-BA15-D79AFE58978A}" type="presOf" srcId="{40D3C588-D812-47E7-B24A-2346A64F720A}" destId="{45690A18-FE4C-4A06-8ABA-D98E4D77D3BB}" srcOrd="0" destOrd="0" presId="urn:microsoft.com/office/officeart/2024/3/layout/verticalVisualTextBlock1"/>
    <dgm:cxn modelId="{0D2D5557-76A0-413A-81E9-2D22D8206247}" type="presOf" srcId="{D166C875-6CCA-4B4C-A828-F671BDE04FE1}" destId="{272ECE10-F76E-4A7B-9023-7E57009B322F}" srcOrd="0" destOrd="0" presId="urn:microsoft.com/office/officeart/2024/3/layout/verticalVisualTextBlock1"/>
    <dgm:cxn modelId="{AC65BB80-07CA-49C4-8F72-88AD6350E60E}" type="presOf" srcId="{A7276A8A-CCE9-4E70-9475-02B0E27E8C44}" destId="{FE1075F2-E522-4F02-9995-6A017F81506F}" srcOrd="0" destOrd="0" presId="urn:microsoft.com/office/officeart/2024/3/layout/verticalVisualTextBlock1"/>
    <dgm:cxn modelId="{98556581-A838-41DE-AD3E-77DC8D9AD889}" srcId="{40D3C588-D812-47E7-B24A-2346A64F720A}" destId="{4EC7BD36-052B-40C2-8251-140B340BD48B}" srcOrd="0" destOrd="0" parTransId="{89014BD3-471E-4737-93E6-246954FEC455}" sibTransId="{E9326203-72FA-4C94-B8F1-E10A57477170}"/>
    <dgm:cxn modelId="{CFF88E95-2856-407C-A300-53152F06AC9D}" type="presOf" srcId="{A6DF633E-48BD-479B-B6C4-897820703A1F}" destId="{248B7D42-EDAF-4101-BCA3-88E583AE873B}" srcOrd="0" destOrd="0" presId="urn:microsoft.com/office/officeart/2024/3/layout/verticalVisualTextBlock1"/>
    <dgm:cxn modelId="{9F343DB4-223D-4B2D-A2FA-5441DABA9A56}" srcId="{A7276A8A-CCE9-4E70-9475-02B0E27E8C44}" destId="{40D3C588-D812-47E7-B24A-2346A64F720A}" srcOrd="1" destOrd="0" parTransId="{BFEC22F5-0FA9-4C42-AE86-512D80A71D77}" sibTransId="{6197D758-995F-4536-8C5F-F0385743A613}"/>
    <dgm:cxn modelId="{2DA43CC7-BB73-4B3B-B607-43F6E48331CF}" srcId="{A7276A8A-CCE9-4E70-9475-02B0E27E8C44}" destId="{A6DF633E-48BD-479B-B6C4-897820703A1F}" srcOrd="2" destOrd="0" parTransId="{0E63E2FC-22BE-4179-A1B9-8CB1E535D091}" sibTransId="{C14C25BD-9EFC-49BF-AADC-BA9E4C70131A}"/>
    <dgm:cxn modelId="{753372C8-7C15-4864-9070-D38936C15B92}" srcId="{A7276A8A-CCE9-4E70-9475-02B0E27E8C44}" destId="{8145CC7A-D0D5-4437-A07A-CCA754198E06}" srcOrd="0" destOrd="0" parTransId="{6C20E2A9-43A4-41F5-9280-A28AF37E1154}" sibTransId="{8E1DE228-3206-4AE9-AC34-1A1350050770}"/>
    <dgm:cxn modelId="{F1FA49CF-E7D7-4912-B2A4-5C0C2C9B8414}" type="presOf" srcId="{4EC7BD36-052B-40C2-8251-140B340BD48B}" destId="{8AA11F2F-4C2D-4042-919C-BA4B21838552}" srcOrd="0" destOrd="0" presId="urn:microsoft.com/office/officeart/2024/3/layout/verticalVisualTextBlock1"/>
    <dgm:cxn modelId="{81988CE7-B329-49ED-A0AC-C037D0BB4850}" type="presOf" srcId="{8E1DE228-3206-4AE9-AC34-1A1350050770}" destId="{B3D0320C-E6E9-44B4-82BC-2580A173E17E}" srcOrd="0" destOrd="0" presId="urn:microsoft.com/office/officeart/2024/3/layout/verticalVisualTextBlock1"/>
    <dgm:cxn modelId="{ADE9DBF6-D549-4BC5-B6CD-3E0C1FF35B02}" type="presOf" srcId="{8145CC7A-D0D5-4437-A07A-CCA754198E06}" destId="{45D7541E-DF98-4E7C-86E1-E089FDE1FD4D}" srcOrd="0" destOrd="0" presId="urn:microsoft.com/office/officeart/2024/3/layout/verticalVisualTextBlock1"/>
    <dgm:cxn modelId="{76812EF9-E9EF-4007-AD9E-A4478929AC8D}" type="presOf" srcId="{3B86FB68-AE78-47CF-9A9A-53428DB07F47}" destId="{275FE5A0-65F6-433E-A894-A1A1E53BC3EA}" srcOrd="0" destOrd="0" presId="urn:microsoft.com/office/officeart/2024/3/layout/verticalVisualTextBlock1"/>
    <dgm:cxn modelId="{94DBE296-2346-4184-BCCA-575F52AE1FCA}" type="presParOf" srcId="{FE1075F2-E522-4F02-9995-6A017F81506F}" destId="{D8AE2D43-9F6E-4DA4-9BF7-4F025EC9C3A7}" srcOrd="0" destOrd="0" presId="urn:microsoft.com/office/officeart/2024/3/layout/verticalVisualTextBlock1"/>
    <dgm:cxn modelId="{F4F011F1-931E-4843-A0B8-9F62AC06A6F8}" type="presParOf" srcId="{D8AE2D43-9F6E-4DA4-9BF7-4F025EC9C3A7}" destId="{AF54126C-2E01-4F41-B7B3-2110F3EA7852}" srcOrd="0" destOrd="0" presId="urn:microsoft.com/office/officeart/2024/3/layout/verticalVisualTextBlock1"/>
    <dgm:cxn modelId="{A624489A-9486-428D-919F-F2947E59DB07}" type="presParOf" srcId="{D8AE2D43-9F6E-4DA4-9BF7-4F025EC9C3A7}" destId="{45D7541E-DF98-4E7C-86E1-E089FDE1FD4D}" srcOrd="1" destOrd="0" presId="urn:microsoft.com/office/officeart/2024/3/layout/verticalVisualTextBlock1"/>
    <dgm:cxn modelId="{0835FB81-7654-44EC-A8E9-C0CBEDD082FC}" type="presParOf" srcId="{D8AE2D43-9F6E-4DA4-9BF7-4F025EC9C3A7}" destId="{272ECE10-F76E-4A7B-9023-7E57009B322F}" srcOrd="2" destOrd="0" presId="urn:microsoft.com/office/officeart/2024/3/layout/verticalVisualTextBlock1"/>
    <dgm:cxn modelId="{F4C91791-D919-4750-B217-42ACD8D27C4D}" type="presParOf" srcId="{FE1075F2-E522-4F02-9995-6A017F81506F}" destId="{B3D0320C-E6E9-44B4-82BC-2580A173E17E}" srcOrd="1" destOrd="0" presId="urn:microsoft.com/office/officeart/2024/3/layout/verticalVisualTextBlock1"/>
    <dgm:cxn modelId="{B6066410-9B60-4333-8FB9-528B9D31F62E}" type="presParOf" srcId="{FE1075F2-E522-4F02-9995-6A017F81506F}" destId="{60F30159-ACCA-49EB-AB8D-9F58C3AC54E9}" srcOrd="2" destOrd="0" presId="urn:microsoft.com/office/officeart/2024/3/layout/verticalVisualTextBlock1"/>
    <dgm:cxn modelId="{91800F6C-6D59-4473-ADDF-D68995DCDC98}" type="presParOf" srcId="{60F30159-ACCA-49EB-AB8D-9F58C3AC54E9}" destId="{8CBECC61-DEFB-4176-9535-AEAE1B925EA8}" srcOrd="0" destOrd="0" presId="urn:microsoft.com/office/officeart/2024/3/layout/verticalVisualTextBlock1"/>
    <dgm:cxn modelId="{2BBDC031-B971-465D-9340-A9A3518CEC3C}" type="presParOf" srcId="{60F30159-ACCA-49EB-AB8D-9F58C3AC54E9}" destId="{45690A18-FE4C-4A06-8ABA-D98E4D77D3BB}" srcOrd="1" destOrd="0" presId="urn:microsoft.com/office/officeart/2024/3/layout/verticalVisualTextBlock1"/>
    <dgm:cxn modelId="{776CCE21-4002-426A-B67F-AF24BB4706CE}" type="presParOf" srcId="{60F30159-ACCA-49EB-AB8D-9F58C3AC54E9}" destId="{8AA11F2F-4C2D-4042-919C-BA4B21838552}" srcOrd="2" destOrd="0" presId="urn:microsoft.com/office/officeart/2024/3/layout/verticalVisualTextBlock1"/>
    <dgm:cxn modelId="{AA8C7392-CBF3-49D3-B48F-F523D627ABAC}" type="presParOf" srcId="{FE1075F2-E522-4F02-9995-6A017F81506F}" destId="{CEE7810A-D033-41A3-A610-57BD1A06827D}" srcOrd="3" destOrd="0" presId="urn:microsoft.com/office/officeart/2024/3/layout/verticalVisualTextBlock1"/>
    <dgm:cxn modelId="{575B0DD2-1527-426F-A81F-B31D1B7291DF}" type="presParOf" srcId="{FE1075F2-E522-4F02-9995-6A017F81506F}" destId="{CCDDE439-2D42-4F1E-8A66-3D9B3CDD29B0}" srcOrd="4" destOrd="0" presId="urn:microsoft.com/office/officeart/2024/3/layout/verticalVisualTextBlock1"/>
    <dgm:cxn modelId="{5FF4F752-2A78-4CAD-AF69-82A25F717091}" type="presParOf" srcId="{CCDDE439-2D42-4F1E-8A66-3D9B3CDD29B0}" destId="{CCDB2723-E861-4DB7-B937-ADB336E45C21}" srcOrd="0" destOrd="0" presId="urn:microsoft.com/office/officeart/2024/3/layout/verticalVisualTextBlock1"/>
    <dgm:cxn modelId="{68C2234A-BC95-49D0-B6A8-64B7A07A7735}" type="presParOf" srcId="{CCDDE439-2D42-4F1E-8A66-3D9B3CDD29B0}" destId="{248B7D42-EDAF-4101-BCA3-88E583AE873B}" srcOrd="1" destOrd="0" presId="urn:microsoft.com/office/officeart/2024/3/layout/verticalVisualTextBlock1"/>
    <dgm:cxn modelId="{C6EC5E5E-69CD-4551-A151-84711524865C}" type="presParOf" srcId="{CCDDE439-2D42-4F1E-8A66-3D9B3CDD29B0}" destId="{275FE5A0-65F6-433E-A894-A1A1E53BC3EA}" srcOrd="2" destOrd="0" presId="urn:microsoft.com/office/officeart/2024/3/layout/verticalVisualTextBlock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4126C-2E01-4F41-B7B3-2110F3EA7852}">
      <dsp:nvSpPr>
        <dsp:cNvPr id="0" name=""/>
        <dsp:cNvSpPr/>
      </dsp:nvSpPr>
      <dsp:spPr>
        <a:xfrm>
          <a:off x="0" y="0"/>
          <a:ext cx="1135830" cy="113583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940" r="31309" b="-1"/>
          <a:stretch/>
        </a:blip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sp>
    <dsp:sp modelId="{45D7541E-DF98-4E7C-86E1-E089FDE1FD4D}">
      <dsp:nvSpPr>
        <dsp:cNvPr id="0" name=""/>
        <dsp:cNvSpPr/>
      </dsp:nvSpPr>
      <dsp:spPr>
        <a:xfrm>
          <a:off x="1315830" y="0"/>
          <a:ext cx="6138246" cy="333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RFM Scoring Explained</a:t>
          </a:r>
        </a:p>
      </dsp:txBody>
      <dsp:txXfrm>
        <a:off x="1315830" y="0"/>
        <a:ext cx="6138246" cy="333118"/>
      </dsp:txXfrm>
    </dsp:sp>
    <dsp:sp modelId="{272ECE10-F76E-4A7B-9023-7E57009B322F}">
      <dsp:nvSpPr>
        <dsp:cNvPr id="0" name=""/>
        <dsp:cNvSpPr/>
      </dsp:nvSpPr>
      <dsp:spPr>
        <a:xfrm>
          <a:off x="1315830" y="333118"/>
          <a:ext cx="6138246" cy="802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Customers are scored on recency, frequency, and monetary value to assess their engagement and value to the business.</a:t>
          </a:r>
        </a:p>
      </dsp:txBody>
      <dsp:txXfrm>
        <a:off x="1315830" y="333118"/>
        <a:ext cx="6138246" cy="802711"/>
      </dsp:txXfrm>
    </dsp:sp>
    <dsp:sp modelId="{8CBECC61-DEFB-4176-9535-AEAE1B925EA8}">
      <dsp:nvSpPr>
        <dsp:cNvPr id="0" name=""/>
        <dsp:cNvSpPr/>
      </dsp:nvSpPr>
      <dsp:spPr>
        <a:xfrm>
          <a:off x="0" y="1226696"/>
          <a:ext cx="1135830" cy="113583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t="33249" r="-1" b="1"/>
          <a:stretch/>
        </a:blip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sp>
    <dsp:sp modelId="{45690A18-FE4C-4A06-8ABA-D98E4D77D3BB}">
      <dsp:nvSpPr>
        <dsp:cNvPr id="0" name=""/>
        <dsp:cNvSpPr/>
      </dsp:nvSpPr>
      <dsp:spPr>
        <a:xfrm>
          <a:off x="1315830" y="1226696"/>
          <a:ext cx="6138246" cy="333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RFM Segment Usage</a:t>
          </a:r>
        </a:p>
      </dsp:txBody>
      <dsp:txXfrm>
        <a:off x="1315830" y="1226696"/>
        <a:ext cx="6138246" cy="333118"/>
      </dsp:txXfrm>
    </dsp:sp>
    <dsp:sp modelId="{8AA11F2F-4C2D-4042-919C-BA4B21838552}">
      <dsp:nvSpPr>
        <dsp:cNvPr id="0" name=""/>
        <dsp:cNvSpPr/>
      </dsp:nvSpPr>
      <dsp:spPr>
        <a:xfrm>
          <a:off x="1315830" y="1559815"/>
          <a:ext cx="6138246" cy="802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Combined RFM scores create segments, enabling targeted marketing campaigns to reach specific customer groups effectively.</a:t>
          </a:r>
        </a:p>
      </dsp:txBody>
      <dsp:txXfrm>
        <a:off x="1315830" y="1559815"/>
        <a:ext cx="6138246" cy="802711"/>
      </dsp:txXfrm>
    </dsp:sp>
    <dsp:sp modelId="{CCDB2723-E861-4DB7-B937-ADB336E45C21}">
      <dsp:nvSpPr>
        <dsp:cNvPr id="0" name=""/>
        <dsp:cNvSpPr/>
      </dsp:nvSpPr>
      <dsp:spPr>
        <a:xfrm>
          <a:off x="0" y="2453393"/>
          <a:ext cx="1135830" cy="113583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6609" r="16640" b="-1"/>
          <a:stretch/>
        </a:blip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sp>
    <dsp:sp modelId="{248B7D42-EDAF-4101-BCA3-88E583AE873B}">
      <dsp:nvSpPr>
        <dsp:cNvPr id="0" name=""/>
        <dsp:cNvSpPr/>
      </dsp:nvSpPr>
      <dsp:spPr>
        <a:xfrm>
          <a:off x="1315830" y="2453393"/>
          <a:ext cx="6138246" cy="333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Deciling for Actionable Insights</a:t>
          </a:r>
        </a:p>
      </dsp:txBody>
      <dsp:txXfrm>
        <a:off x="1315830" y="2453393"/>
        <a:ext cx="6138246" cy="333118"/>
      </dsp:txXfrm>
    </dsp:sp>
    <dsp:sp modelId="{275FE5A0-65F6-433E-A894-A1A1E53BC3EA}">
      <dsp:nvSpPr>
        <dsp:cNvPr id="0" name=""/>
        <dsp:cNvSpPr/>
      </dsp:nvSpPr>
      <dsp:spPr>
        <a:xfrm>
          <a:off x="1315830" y="2786512"/>
          <a:ext cx="6138246" cy="802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Deciling sorts customers into ten groups, providing clear, actionable divisions for comparison and strategic marketing.</a:t>
          </a:r>
        </a:p>
      </dsp:txBody>
      <dsp:txXfrm>
        <a:off x="1315830" y="2786512"/>
        <a:ext cx="6138246" cy="80271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A6A74-2C03-47D4-8097-F9372882A5E6}" type="datetimeFigureOut">
              <a:rPr lang="en-GB" smtClean="0"/>
              <a:t>24/09/2025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31DAA-E854-4408-B475-4D9105292409}" type="slidenum">
              <a:rPr lang="en-GB" smtClean="0"/>
              <a:t>‹#›</a:t>
            </a:fld>
            <a:endParaRPr lang="en-GB"/>
          </a:p>
        </p:txBody>
      </p:sp>
    </p:spTree>
    <p:extLst>
      <p:ext uri="{BB962C8B-B14F-4D97-AF65-F5344CB8AC3E}">
        <p14:creationId xmlns:p14="http://schemas.microsoft.com/office/powerpoint/2010/main" val="1417953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Using Python for data preparation and EDA, we analyzed e-commerce transactions from Dec 2010 to Dec 2011. RFM segmentation (Recency, Frequency, Monetary) grouped customers based on purchase behavior. The results, visualized in Power BI, enable targeted marketing strategies and optimized customer engagement for each segment.</a:t>
            </a:r>
          </a:p>
        </p:txBody>
      </p:sp>
      <p:sp>
        <p:nvSpPr>
          <p:cNvPr id="4" name="Slide Number Placeholder 3"/>
          <p:cNvSpPr>
            <a:spLocks noGrp="1"/>
          </p:cNvSpPr>
          <p:nvPr>
            <p:ph type="sldNum" sz="quarter" idx="5"/>
          </p:nvPr>
        </p:nvSpPr>
        <p:spPr/>
        <p:txBody>
          <a:bodyPr/>
          <a:lstStyle/>
          <a:p>
            <a:fld id="{E2831DAA-E854-4408-B475-4D9105292409}" type="slidenum">
              <a:rPr lang="en-GB" smtClean="0"/>
              <a:t>2</a:t>
            </a:fld>
            <a:endParaRPr lang="en-GB"/>
          </a:p>
        </p:txBody>
      </p:sp>
    </p:spTree>
    <p:extLst>
      <p:ext uri="{BB962C8B-B14F-4D97-AF65-F5344CB8AC3E}">
        <p14:creationId xmlns:p14="http://schemas.microsoft.com/office/powerpoint/2010/main" val="2934651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Identifying which customers to retain, upsell, or re-engage is challenging. To address this, we propose building RFM and decile segmentation models to quantify customer value and activity. By tracking revenue and volume over time by segment, we aim to deliver actionable marketing recommendations for more targeted strategies.</a:t>
            </a:r>
          </a:p>
        </p:txBody>
      </p:sp>
      <p:sp>
        <p:nvSpPr>
          <p:cNvPr id="4" name="Slide Number Placeholder 3"/>
          <p:cNvSpPr>
            <a:spLocks noGrp="1"/>
          </p:cNvSpPr>
          <p:nvPr>
            <p:ph type="sldNum" sz="quarter" idx="5"/>
          </p:nvPr>
        </p:nvSpPr>
        <p:spPr/>
        <p:txBody>
          <a:bodyPr/>
          <a:lstStyle/>
          <a:p>
            <a:fld id="{E2831DAA-E854-4408-B475-4D9105292409}" type="slidenum">
              <a:rPr lang="en-GB" smtClean="0"/>
              <a:t>3</a:t>
            </a:fld>
            <a:endParaRPr lang="en-GB"/>
          </a:p>
        </p:txBody>
      </p:sp>
    </p:spTree>
    <p:extLst>
      <p:ext uri="{BB962C8B-B14F-4D97-AF65-F5344CB8AC3E}">
        <p14:creationId xmlns:p14="http://schemas.microsoft.com/office/powerpoint/2010/main" val="110542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Processed ~540K transactions with essential fields like InvoiceDate, CustomerID, Quantity, and UnitPrice. Cleaned data by filling text gaps, standardizing IDs, and handling returns or cancellations. Calculated TotalSales as Quantity × UnitPrice (rounded to two decimals), converted date formats, and removed duplicates or outliers for quality analysis.</a:t>
            </a:r>
          </a:p>
        </p:txBody>
      </p:sp>
      <p:sp>
        <p:nvSpPr>
          <p:cNvPr id="4" name="Slide Number Placeholder 3"/>
          <p:cNvSpPr>
            <a:spLocks noGrp="1"/>
          </p:cNvSpPr>
          <p:nvPr>
            <p:ph type="sldNum" sz="quarter" idx="5"/>
          </p:nvPr>
        </p:nvSpPr>
        <p:spPr/>
        <p:txBody>
          <a:bodyPr/>
          <a:lstStyle/>
          <a:p>
            <a:fld id="{E2831DAA-E854-4408-B475-4D9105292409}" type="slidenum">
              <a:rPr lang="en-GB" smtClean="0"/>
              <a:t>4</a:t>
            </a:fld>
            <a:endParaRPr lang="en-GB"/>
          </a:p>
        </p:txBody>
      </p:sp>
    </p:spTree>
    <p:extLst>
      <p:ext uri="{BB962C8B-B14F-4D97-AF65-F5344CB8AC3E}">
        <p14:creationId xmlns:p14="http://schemas.microsoft.com/office/powerpoint/2010/main" val="3204324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Exploratory Data Analysis reveals a significant year-end sales lift and a noticeable dip mid-year, indicating seasonality. Sales are stronger mid-week compared to weekends, showing a distinct weekday pattern. A few countries dominate total sales, highlighting market concentration. Additionally, average basket values differ by month and customer segment, suggesting varied purchasing behaviors.</a:t>
            </a:r>
          </a:p>
        </p:txBody>
      </p:sp>
      <p:sp>
        <p:nvSpPr>
          <p:cNvPr id="4" name="Slide Number Placeholder 3"/>
          <p:cNvSpPr>
            <a:spLocks noGrp="1"/>
          </p:cNvSpPr>
          <p:nvPr>
            <p:ph type="sldNum" sz="quarter" idx="5"/>
          </p:nvPr>
        </p:nvSpPr>
        <p:spPr/>
        <p:txBody>
          <a:bodyPr/>
          <a:lstStyle/>
          <a:p>
            <a:fld id="{E2831DAA-E854-4408-B475-4D9105292409}" type="slidenum">
              <a:rPr lang="en-GB" smtClean="0"/>
              <a:t>5</a:t>
            </a:fld>
            <a:endParaRPr lang="en-GB"/>
          </a:p>
        </p:txBody>
      </p:sp>
    </p:spTree>
    <p:extLst>
      <p:ext uri="{BB962C8B-B14F-4D97-AF65-F5344CB8AC3E}">
        <p14:creationId xmlns:p14="http://schemas.microsoft.com/office/powerpoint/2010/main" val="1017005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RFM analyzes customer value by scoring Recency (days since last purchase), Frequency (order count), and Monetary (total spend) from 1 to 5. These scores are combined into an RFM_Segment for campaign targeting. Deciling sorts customers into ten groups, enabling simple, interpretable comparisons and actionable marketing segmentations.</a:t>
            </a:r>
          </a:p>
        </p:txBody>
      </p:sp>
      <p:sp>
        <p:nvSpPr>
          <p:cNvPr id="4" name="Slide Number Placeholder 3"/>
          <p:cNvSpPr>
            <a:spLocks noGrp="1"/>
          </p:cNvSpPr>
          <p:nvPr>
            <p:ph type="sldNum" sz="quarter" idx="5"/>
          </p:nvPr>
        </p:nvSpPr>
        <p:spPr/>
        <p:txBody>
          <a:bodyPr/>
          <a:lstStyle/>
          <a:p>
            <a:fld id="{E2831DAA-E854-4408-B475-4D9105292409}" type="slidenum">
              <a:rPr lang="en-GB" smtClean="0"/>
              <a:t>6</a:t>
            </a:fld>
            <a:endParaRPr lang="en-GB"/>
          </a:p>
        </p:txBody>
      </p:sp>
    </p:spTree>
    <p:extLst>
      <p:ext uri="{BB962C8B-B14F-4D97-AF65-F5344CB8AC3E}">
        <p14:creationId xmlns:p14="http://schemas.microsoft.com/office/powerpoint/2010/main" val="143614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Loyal and high-value customer segments contribute a disproportionately large share of total revenue. At-risk and dormant segments present opportunities for reactivation and growth. The R×F matrix analysis scores approximately 2,854 customers, and a donut chart visualizes the current mix of segments within the active customer base.</a:t>
            </a:r>
          </a:p>
        </p:txBody>
      </p:sp>
      <p:sp>
        <p:nvSpPr>
          <p:cNvPr id="4" name="Slide Number Placeholder 3"/>
          <p:cNvSpPr>
            <a:spLocks noGrp="1"/>
          </p:cNvSpPr>
          <p:nvPr>
            <p:ph type="sldNum" sz="quarter" idx="5"/>
          </p:nvPr>
        </p:nvSpPr>
        <p:spPr/>
        <p:txBody>
          <a:bodyPr/>
          <a:lstStyle/>
          <a:p>
            <a:fld id="{E2831DAA-E854-4408-B475-4D9105292409}" type="slidenum">
              <a:rPr lang="en-GB" smtClean="0"/>
              <a:t>8</a:t>
            </a:fld>
            <a:endParaRPr lang="en-GB"/>
          </a:p>
        </p:txBody>
      </p:sp>
    </p:spTree>
    <p:extLst>
      <p:ext uri="{BB962C8B-B14F-4D97-AF65-F5344CB8AC3E}">
        <p14:creationId xmlns:p14="http://schemas.microsoft.com/office/powerpoint/2010/main" val="119533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Revenue drivers are visualized by stacking segment contributions across months, highlighting how each segment impacts overall performance. Active customer trends show a noticeable mid-year peak, indicating seasonal activity. A totals table compares revenue and quantity as a sanity check, while slicers help uncover patterns specific to different countries.</a:t>
            </a:r>
          </a:p>
        </p:txBody>
      </p:sp>
      <p:sp>
        <p:nvSpPr>
          <p:cNvPr id="4" name="Slide Number Placeholder 3"/>
          <p:cNvSpPr>
            <a:spLocks noGrp="1"/>
          </p:cNvSpPr>
          <p:nvPr>
            <p:ph type="sldNum" sz="quarter" idx="5"/>
          </p:nvPr>
        </p:nvSpPr>
        <p:spPr/>
        <p:txBody>
          <a:bodyPr/>
          <a:lstStyle/>
          <a:p>
            <a:fld id="{E2831DAA-E854-4408-B475-4D9105292409}" type="slidenum">
              <a:rPr lang="en-GB" smtClean="0"/>
              <a:t>9</a:t>
            </a:fld>
            <a:endParaRPr lang="en-GB"/>
          </a:p>
        </p:txBody>
      </p:sp>
    </p:spTree>
    <p:extLst>
      <p:ext uri="{BB962C8B-B14F-4D97-AF65-F5344CB8AC3E}">
        <p14:creationId xmlns:p14="http://schemas.microsoft.com/office/powerpoint/2010/main" val="3689610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The Pareto effect reveals that the top deciles generate most of the revenue, highlighting the importance of high-value customers. Retention efforts should target loyal segments to maximize engagement and lifetime value. Additionally, a significant at-risk and dormant customer pool exists, with win-back campaigns and seasonal timing offering strong potential for revenue uplift.</a:t>
            </a:r>
          </a:p>
        </p:txBody>
      </p:sp>
      <p:sp>
        <p:nvSpPr>
          <p:cNvPr id="4" name="Slide Number Placeholder 3"/>
          <p:cNvSpPr>
            <a:spLocks noGrp="1"/>
          </p:cNvSpPr>
          <p:nvPr>
            <p:ph type="sldNum" sz="quarter" idx="5"/>
          </p:nvPr>
        </p:nvSpPr>
        <p:spPr/>
        <p:txBody>
          <a:bodyPr/>
          <a:lstStyle/>
          <a:p>
            <a:fld id="{E2831DAA-E854-4408-B475-4D9105292409}" type="slidenum">
              <a:rPr lang="en-GB" smtClean="0"/>
              <a:t>11</a:t>
            </a:fld>
            <a:endParaRPr lang="en-GB"/>
          </a:p>
        </p:txBody>
      </p:sp>
    </p:spTree>
    <p:extLst>
      <p:ext uri="{BB962C8B-B14F-4D97-AF65-F5344CB8AC3E}">
        <p14:creationId xmlns:p14="http://schemas.microsoft.com/office/powerpoint/2010/main" val="1802458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Implement tiered loyalty programs and VIP services to enhance retention, offering perks like early-access drops. Upsell and cross-sell to mid-tier customers using curated bundles and look-alike product recommendations. Re-engage inactive customers through personalized win-back journeys, utilizing A/B tested offers to determine the most effective incentives.</a:t>
            </a:r>
          </a:p>
        </p:txBody>
      </p:sp>
      <p:sp>
        <p:nvSpPr>
          <p:cNvPr id="4" name="Slide Number Placeholder 3"/>
          <p:cNvSpPr>
            <a:spLocks noGrp="1"/>
          </p:cNvSpPr>
          <p:nvPr>
            <p:ph type="sldNum" sz="quarter" idx="5"/>
          </p:nvPr>
        </p:nvSpPr>
        <p:spPr/>
        <p:txBody>
          <a:bodyPr/>
          <a:lstStyle/>
          <a:p>
            <a:fld id="{E2831DAA-E854-4408-B475-4D9105292409}" type="slidenum">
              <a:rPr lang="en-GB" smtClean="0"/>
              <a:t>12</a:t>
            </a:fld>
            <a:endParaRPr lang="en-GB"/>
          </a:p>
        </p:txBody>
      </p:sp>
    </p:spTree>
    <p:extLst>
      <p:ext uri="{BB962C8B-B14F-4D97-AF65-F5344CB8AC3E}">
        <p14:creationId xmlns:p14="http://schemas.microsoft.com/office/powerpoint/2010/main" val="8792476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5DBF998-DF23-499D-84F8-2E58D58572CF}" type="datetimeFigureOut">
              <a:rPr lang="en-GB" smtClean="0"/>
              <a:t>24/09/2025</a:t>
            </a:fld>
            <a:endParaRPr lang="en-GB"/>
          </a:p>
        </p:txBody>
      </p:sp>
      <p:sp>
        <p:nvSpPr>
          <p:cNvPr id="5" name="Footer Placeholder 4"/>
          <p:cNvSpPr>
            <a:spLocks noGrp="1"/>
          </p:cNvSpPr>
          <p:nvPr>
            <p:ph type="ftr" sz="quarter" idx="11"/>
          </p:nvPr>
        </p:nvSpPr>
        <p:spPr>
          <a:xfrm>
            <a:off x="1371600" y="4323845"/>
            <a:ext cx="6400800" cy="365125"/>
          </a:xfrm>
        </p:spPr>
        <p:txBody>
          <a:bodyPr/>
          <a:lstStyle/>
          <a:p>
            <a:endParaRPr lang="en-GB"/>
          </a:p>
        </p:txBody>
      </p:sp>
      <p:sp>
        <p:nvSpPr>
          <p:cNvPr id="6" name="Slide Number Placeholder 5"/>
          <p:cNvSpPr>
            <a:spLocks noGrp="1"/>
          </p:cNvSpPr>
          <p:nvPr>
            <p:ph type="sldNum" sz="quarter" idx="12"/>
          </p:nvPr>
        </p:nvSpPr>
        <p:spPr>
          <a:xfrm>
            <a:off x="8077200" y="1430866"/>
            <a:ext cx="2743200" cy="365125"/>
          </a:xfrm>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2037055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DBF998-DF23-499D-84F8-2E58D58572CF}" type="datetimeFigureOut">
              <a:rPr lang="en-GB" smtClean="0"/>
              <a:t>24/09/2025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9632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5DBF998-DF23-499D-84F8-2E58D58572CF}" type="datetimeFigureOut">
              <a:rPr lang="en-GB" smtClean="0"/>
              <a:t>24/09/2025</a:t>
            </a:fld>
            <a:endParaRPr lang="en-GB"/>
          </a:p>
        </p:txBody>
      </p:sp>
      <p:sp>
        <p:nvSpPr>
          <p:cNvPr id="5" name="Footer Placeholder 4"/>
          <p:cNvSpPr>
            <a:spLocks noGrp="1"/>
          </p:cNvSpPr>
          <p:nvPr>
            <p:ph type="ftr" sz="quarter" idx="11"/>
          </p:nvPr>
        </p:nvSpPr>
        <p:spPr>
          <a:xfrm>
            <a:off x="685800" y="381001"/>
            <a:ext cx="6991492" cy="364065"/>
          </a:xfrm>
        </p:spPr>
        <p:txBody>
          <a:bodyPr/>
          <a:lstStyle/>
          <a:p>
            <a:endParaRPr lang="en-GB"/>
          </a:p>
        </p:txBody>
      </p:sp>
      <p:sp>
        <p:nvSpPr>
          <p:cNvPr id="6" name="Slide Number Placeholder 5"/>
          <p:cNvSpPr>
            <a:spLocks noGrp="1"/>
          </p:cNvSpPr>
          <p:nvPr>
            <p:ph type="sldNum" sz="quarter" idx="12"/>
          </p:nvPr>
        </p:nvSpPr>
        <p:spPr>
          <a:xfrm>
            <a:off x="10862452" y="381000"/>
            <a:ext cx="643748" cy="365125"/>
          </a:xfrm>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824094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4165178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DBF998-DF23-499D-84F8-2E58D58572CF}" type="datetimeFigureOut">
              <a:rPr lang="en-GB" smtClean="0"/>
              <a:t>24/09/2025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662622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DBF998-DF23-499D-84F8-2E58D58572CF}" type="datetimeFigureOut">
              <a:rPr lang="en-GB" smtClean="0"/>
              <a:t>24/09/2025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133088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DBF998-DF23-499D-84F8-2E58D58572CF}" type="datetimeFigureOut">
              <a:rPr lang="en-GB" smtClean="0"/>
              <a:t>24/09/2025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250258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4271218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2419372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641621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a:xfrm>
            <a:off x="685800" y="379941"/>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1250545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a:xfrm>
            <a:off x="685800" y="379941"/>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B46C5DED-FBB3-42A8-98B9-F80072D189B0}" type="slidenum">
              <a:rPr lang="en-GB" smtClean="0"/>
              <a:t>‹#›</a:t>
            </a:fld>
            <a:endParaRPr lang="en-GB"/>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27703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5DBF998-DF23-499D-84F8-2E58D58572CF}" type="datetimeFigureOut">
              <a:rPr lang="en-GB" smtClean="0"/>
              <a:t>24/09/2025</a:t>
            </a:fld>
            <a:endParaRPr lang="en-GB"/>
          </a:p>
        </p:txBody>
      </p:sp>
      <p:sp>
        <p:nvSpPr>
          <p:cNvPr id="6" name="Footer Placeholder 5"/>
          <p:cNvSpPr>
            <a:spLocks noGrp="1"/>
          </p:cNvSpPr>
          <p:nvPr>
            <p:ph type="ftr" sz="quarter" idx="11"/>
          </p:nvPr>
        </p:nvSpPr>
        <p:spPr>
          <a:xfrm>
            <a:off x="685800" y="378883"/>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2613744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DBF998-DF23-499D-84F8-2E58D58572CF}" type="datetimeFigureOut">
              <a:rPr lang="en-GB" smtClean="0"/>
              <a:t>24/09/2025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021895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DBF998-DF23-499D-84F8-2E58D58572CF}" type="datetimeFigureOut">
              <a:rPr lang="en-GB" smtClean="0"/>
              <a:t>24/09/2025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319936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DBF998-DF23-499D-84F8-2E58D58572CF}" type="datetimeFigureOut">
              <a:rPr lang="en-GB" smtClean="0"/>
              <a:t>24/09/2025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084173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5DBF998-DF23-499D-84F8-2E58D58572CF}" type="datetimeFigureOut">
              <a:rPr lang="en-GB" smtClean="0"/>
              <a:t>24/09/2025</a:t>
            </a:fld>
            <a:endParaRPr lang="en-GB"/>
          </a:p>
        </p:txBody>
      </p:sp>
      <p:sp>
        <p:nvSpPr>
          <p:cNvPr id="5" name="Footer Placeholder 4"/>
          <p:cNvSpPr>
            <a:spLocks noGrp="1"/>
          </p:cNvSpPr>
          <p:nvPr>
            <p:ph type="ftr" sz="quarter" idx="11"/>
          </p:nvPr>
        </p:nvSpPr>
        <p:spPr>
          <a:xfrm>
            <a:off x="685800" y="381000"/>
            <a:ext cx="6991492" cy="365125"/>
          </a:xfrm>
        </p:spPr>
        <p:txBody>
          <a:bodyPr/>
          <a:lstStyle/>
          <a:p>
            <a:endParaRPr lang="en-GB"/>
          </a:p>
        </p:txBody>
      </p:sp>
      <p:sp>
        <p:nvSpPr>
          <p:cNvPr id="6" name="Slide Number Placeholder 5"/>
          <p:cNvSpPr>
            <a:spLocks noGrp="1"/>
          </p:cNvSpPr>
          <p:nvPr>
            <p:ph type="sldNum" sz="quarter" idx="12"/>
          </p:nvPr>
        </p:nvSpPr>
        <p:spPr>
          <a:xfrm>
            <a:off x="10862452" y="381000"/>
            <a:ext cx="643748" cy="365125"/>
          </a:xfrm>
        </p:spPr>
        <p:txBody>
          <a:bodyPr/>
          <a:lstStyle/>
          <a:p>
            <a:fld id="{B46C5DED-FBB3-42A8-98B9-F80072D189B0}" type="slidenum">
              <a:rPr lang="en-GB" smtClean="0"/>
              <a:t>‹#›</a:t>
            </a:fld>
            <a:endParaRPr lang="en-GB"/>
          </a:p>
        </p:txBody>
      </p:sp>
    </p:spTree>
    <p:extLst>
      <p:ext uri="{BB962C8B-B14F-4D97-AF65-F5344CB8AC3E}">
        <p14:creationId xmlns:p14="http://schemas.microsoft.com/office/powerpoint/2010/main" val="3717409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5DBF998-DF23-499D-84F8-2E58D58572CF}" type="datetimeFigureOut">
              <a:rPr lang="en-GB" smtClean="0"/>
              <a:t>24/09/2025</a:t>
            </a:fld>
            <a:endParaRPr lang="en-GB"/>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46C5DED-FBB3-42A8-98B9-F80072D189B0}" type="slidenum">
              <a:rPr lang="en-GB" smtClean="0"/>
              <a:t>‹#›</a:t>
            </a:fld>
            <a:endParaRPr lang="en-GB"/>
          </a:p>
        </p:txBody>
      </p:sp>
    </p:spTree>
    <p:extLst>
      <p:ext uri="{BB962C8B-B14F-4D97-AF65-F5344CB8AC3E}">
        <p14:creationId xmlns:p14="http://schemas.microsoft.com/office/powerpoint/2010/main" val="607725494"/>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BD94-ADE4-86B4-69C9-210B76B547B4}"/>
              </a:ext>
            </a:extLst>
          </p:cNvPr>
          <p:cNvSpPr>
            <a:spLocks noGrp="1"/>
          </p:cNvSpPr>
          <p:nvPr>
            <p:ph type="ctrTitle"/>
          </p:nvPr>
        </p:nvSpPr>
        <p:spPr>
          <a:xfrm>
            <a:off x="1382486" y="1600200"/>
            <a:ext cx="9144000" cy="830587"/>
          </a:xfrm>
        </p:spPr>
        <p:txBody>
          <a:bodyPr>
            <a:normAutofit fontScale="90000"/>
          </a:bodyPr>
          <a:lstStyle/>
          <a:p>
            <a:r>
              <a:rPr lang="en-GB" dirty="0"/>
              <a:t>E-COMMERCE</a:t>
            </a:r>
          </a:p>
        </p:txBody>
      </p:sp>
      <p:sp>
        <p:nvSpPr>
          <p:cNvPr id="3" name="Subtitle 2">
            <a:extLst>
              <a:ext uri="{FF2B5EF4-FFF2-40B4-BE49-F238E27FC236}">
                <a16:creationId xmlns:a16="http://schemas.microsoft.com/office/drawing/2014/main" id="{53944594-2D40-B82B-C1C5-19FCE76F29A0}"/>
              </a:ext>
            </a:extLst>
          </p:cNvPr>
          <p:cNvSpPr>
            <a:spLocks noGrp="1"/>
          </p:cNvSpPr>
          <p:nvPr>
            <p:ph type="subTitle" idx="1"/>
          </p:nvPr>
        </p:nvSpPr>
        <p:spPr>
          <a:xfrm>
            <a:off x="1382486" y="3632201"/>
            <a:ext cx="9437914" cy="1261852"/>
          </a:xfrm>
        </p:spPr>
        <p:txBody>
          <a:bodyPr/>
          <a:lstStyle/>
          <a:p>
            <a:endParaRPr lang="en-GB" dirty="0"/>
          </a:p>
        </p:txBody>
      </p:sp>
    </p:spTree>
    <p:extLst>
      <p:ext uri="{BB962C8B-B14F-4D97-AF65-F5344CB8AC3E}">
        <p14:creationId xmlns:p14="http://schemas.microsoft.com/office/powerpoint/2010/main" val="721534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924EF325-0DAC-09B9-8E53-4C6CEE2D8E5A}"/>
              </a:ext>
            </a:extLst>
          </p:cNvPr>
          <p:cNvSpPr>
            <a:spLocks noGrp="1"/>
          </p:cNvSpPr>
          <p:nvPr>
            <p:ph type="title"/>
          </p:nvPr>
        </p:nvSpPr>
        <p:spPr>
          <a:xfrm>
            <a:off x="619760" y="764373"/>
            <a:ext cx="6832600" cy="1293028"/>
          </a:xfrm>
        </p:spPr>
        <p:txBody>
          <a:bodyPr vert="horz" lIns="91440" tIns="45720" rIns="91440" bIns="45720" rtlCol="0" anchor="ctr">
            <a:normAutofit/>
          </a:bodyPr>
          <a:lstStyle/>
          <a:p>
            <a:r>
              <a:rPr lang="en-US"/>
              <a:t>RFM Segmentation Insights</a:t>
            </a:r>
          </a:p>
        </p:txBody>
      </p:sp>
      <p:sp>
        <p:nvSpPr>
          <p:cNvPr id="4" name="Content Placeholder 3">
            <a:extLst>
              <a:ext uri="{FF2B5EF4-FFF2-40B4-BE49-F238E27FC236}">
                <a16:creationId xmlns:a16="http://schemas.microsoft.com/office/drawing/2014/main" id="{60C2F155-09F3-C6BF-C077-BF40EDF94FF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760" y="2194560"/>
            <a:ext cx="6832600" cy="4024125"/>
          </a:xfrm>
        </p:spPr>
        <p:txBody>
          <a:bodyPr>
            <a:normAutofit/>
          </a:bodyPr>
          <a:lstStyle/>
          <a:p>
            <a:pPr marL="0" indent="0">
              <a:spcBef>
                <a:spcPts val="2500"/>
              </a:spcBef>
              <a:buFont typeface="Arial" panose="020B0604020202020204" pitchFamily="34" charset="0"/>
              <a:buNone/>
            </a:pPr>
            <a:r>
              <a:rPr lang="en-GB" sz="1400" b="1"/>
              <a:t>Data Preparation and Analysis</a:t>
            </a:r>
          </a:p>
          <a:p>
            <a:pPr marL="0" lvl="1" indent="0">
              <a:buFont typeface="Arial" panose="020B0604020202020204" pitchFamily="34" charset="0"/>
              <a:buNone/>
            </a:pPr>
            <a:r>
              <a:rPr lang="en-GB" sz="1400"/>
              <a:t>Python was used for data cleaning and exploratory data analysis, preparing e-commerce transaction data for deeper insights.</a:t>
            </a:r>
          </a:p>
          <a:p>
            <a:pPr marL="0" indent="0">
              <a:spcBef>
                <a:spcPts val="2500"/>
              </a:spcBef>
              <a:buFont typeface="Arial" panose="020B0604020202020204" pitchFamily="34" charset="0"/>
              <a:buNone/>
            </a:pPr>
            <a:r>
              <a:rPr lang="en-GB" sz="1400" b="1"/>
              <a:t>Customer Segmentation by RFM</a:t>
            </a:r>
          </a:p>
          <a:p>
            <a:pPr marL="0" lvl="1" indent="0">
              <a:buFont typeface="Arial" panose="020B0604020202020204" pitchFamily="34" charset="0"/>
              <a:buNone/>
            </a:pPr>
            <a:r>
              <a:rPr lang="en-GB" sz="1400"/>
              <a:t>RFM segmentation classified customers by recency, frequency, and monetary value, revealing distinct purchasing behaviors.</a:t>
            </a:r>
          </a:p>
          <a:p>
            <a:pPr marL="0" indent="0">
              <a:spcBef>
                <a:spcPts val="2500"/>
              </a:spcBef>
              <a:buFont typeface="Arial" panose="020B0604020202020204" pitchFamily="34" charset="0"/>
              <a:buNone/>
            </a:pPr>
            <a:r>
              <a:rPr lang="en-GB" sz="1400" b="1"/>
              <a:t>Actionable Business Insights</a:t>
            </a:r>
          </a:p>
          <a:p>
            <a:pPr marL="0" lvl="1" indent="0">
              <a:buFont typeface="Arial" panose="020B0604020202020204" pitchFamily="34" charset="0"/>
              <a:buNone/>
            </a:pPr>
            <a:r>
              <a:rPr lang="en-GB" sz="1400"/>
              <a:t>Visualizing segment results enables targeted marketing and tailored engagement, optimizing strategies for each customer group.</a:t>
            </a:r>
          </a:p>
        </p:txBody>
      </p:sp>
      <p:pic>
        <p:nvPicPr>
          <p:cNvPr id="5" name="Content Placeholder 4" descr="Credit Score">
            <a:extLst>
              <a:ext uri="{FF2B5EF4-FFF2-40B4-BE49-F238E27FC236}">
                <a16:creationId xmlns:a16="http://schemas.microsoft.com/office/drawing/2014/main" id="{A76B812A-3C8C-482F-A370-D23E9486CC1E}"/>
              </a:ext>
            </a:extLst>
          </p:cNvPr>
          <p:cNvPicPr>
            <a:picLocks noGrp="1" noChangeAspect="1"/>
          </p:cNvPicPr>
          <p:nvPr>
            <p:ph sz="half" idx="1"/>
          </p:nvPr>
        </p:nvPicPr>
        <p:blipFill>
          <a:blip r:embed="rId4"/>
          <a:srcRect r="215" b="-3"/>
          <a:stretch>
            <a:fillRect/>
          </a:stretch>
        </p:blipFill>
        <p:spPr>
          <a:xfrm>
            <a:off x="7861238" y="746125"/>
            <a:ext cx="3644962" cy="5472559"/>
          </a:xfrm>
          <a:prstGeom prst="rect">
            <a:avLst/>
          </a:prstGeom>
        </p:spPr>
      </p:pic>
    </p:spTree>
    <p:extLst>
      <p:ext uri="{BB962C8B-B14F-4D97-AF65-F5344CB8AC3E}">
        <p14:creationId xmlns:p14="http://schemas.microsoft.com/office/powerpoint/2010/main" val="226592369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183C-0D72-6F04-4D6D-21DD41B8134A}"/>
              </a:ext>
            </a:extLst>
          </p:cNvPr>
          <p:cNvSpPr>
            <a:spLocks noGrp="1"/>
          </p:cNvSpPr>
          <p:nvPr>
            <p:ph type="title"/>
          </p:nvPr>
        </p:nvSpPr>
        <p:spPr/>
        <p:txBody>
          <a:bodyPr vert="horz" lIns="91440" tIns="45720" rIns="91440" bIns="45720" rtlCol="0" anchor="ctr">
            <a:normAutofit/>
          </a:bodyPr>
          <a:lstStyle/>
          <a:p>
            <a:r>
              <a:rPr lang="en-US"/>
              <a:t>Problem and Objective Overview</a:t>
            </a:r>
          </a:p>
        </p:txBody>
      </p:sp>
      <p:pic>
        <p:nvPicPr>
          <p:cNvPr id="5" name="Content Placeholder 4" descr="Target Your Customers">
            <a:extLst>
              <a:ext uri="{FF2B5EF4-FFF2-40B4-BE49-F238E27FC236}">
                <a16:creationId xmlns:a16="http://schemas.microsoft.com/office/drawing/2014/main" id="{DF85F1BF-3A70-413D-AB6C-1A26E5591911}"/>
              </a:ext>
            </a:extLst>
          </p:cNvPr>
          <p:cNvPicPr>
            <a:picLocks noGrp="1" noChangeAspect="1"/>
          </p:cNvPicPr>
          <p:nvPr>
            <p:ph idx="1"/>
          </p:nvPr>
        </p:nvPicPr>
        <p:blipFill>
          <a:blip r:embed="rId3"/>
          <a:stretch>
            <a:fillRect/>
          </a:stretch>
        </p:blipFill>
        <p:spPr>
          <a:xfrm>
            <a:off x="4995863" y="1312599"/>
            <a:ext cx="6510337" cy="4339165"/>
          </a:xfrm>
          <a:prstGeom prst="rect">
            <a:avLst/>
          </a:prstGeom>
        </p:spPr>
      </p:pic>
      <p:sp>
        <p:nvSpPr>
          <p:cNvPr id="4" name="Content Placeholder 3">
            <a:extLst>
              <a:ext uri="{FF2B5EF4-FFF2-40B4-BE49-F238E27FC236}">
                <a16:creationId xmlns:a16="http://schemas.microsoft.com/office/drawing/2014/main" id="{8FBCA1F4-41E5-BB3E-E546-DC57FB4BD09A}"/>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marL="0" indent="0">
              <a:spcBef>
                <a:spcPts val="2500"/>
              </a:spcBef>
              <a:buFont typeface="Arial" panose="020B0604020202020204" pitchFamily="34" charset="0"/>
              <a:buNone/>
            </a:pPr>
            <a:r>
              <a:rPr lang="en-GB" sz="1400" b="1"/>
              <a:t>Customer Identification Challenge</a:t>
            </a:r>
          </a:p>
          <a:p>
            <a:pPr marL="0" lvl="1" indent="0">
              <a:buFont typeface="Arial" panose="020B0604020202020204" pitchFamily="34" charset="0"/>
              <a:buNone/>
            </a:pPr>
            <a:r>
              <a:rPr lang="en-GB" sz="1400"/>
              <a:t>Determining which customers to retain, upsell, or re-engage is a complex and ongoing problem for businesses.</a:t>
            </a:r>
          </a:p>
          <a:p>
            <a:pPr marL="0" indent="0">
              <a:spcBef>
                <a:spcPts val="2500"/>
              </a:spcBef>
              <a:buFont typeface="Arial" panose="020B0604020202020204" pitchFamily="34" charset="0"/>
              <a:buNone/>
            </a:pPr>
            <a:r>
              <a:rPr lang="en-GB" sz="1400" b="1"/>
              <a:t>Segmentation Model Proposal</a:t>
            </a:r>
          </a:p>
          <a:p>
            <a:pPr marL="0" lvl="1" indent="0">
              <a:buFont typeface="Arial" panose="020B0604020202020204" pitchFamily="34" charset="0"/>
              <a:buNone/>
            </a:pPr>
            <a:r>
              <a:rPr lang="en-GB" sz="1400"/>
              <a:t>Using RFM and decile segmentation models helps quantify customer value and activity for better decision-making.</a:t>
            </a:r>
          </a:p>
          <a:p>
            <a:pPr marL="0" indent="0">
              <a:spcBef>
                <a:spcPts val="2500"/>
              </a:spcBef>
              <a:buFont typeface="Arial" panose="020B0604020202020204" pitchFamily="34" charset="0"/>
              <a:buNone/>
            </a:pPr>
            <a:r>
              <a:rPr lang="en-GB" sz="1400" b="1"/>
              <a:t>Targeted Marketing Recommendations</a:t>
            </a:r>
          </a:p>
          <a:p>
            <a:pPr marL="0" lvl="1" indent="0">
              <a:buFont typeface="Arial" panose="020B0604020202020204" pitchFamily="34" charset="0"/>
              <a:buNone/>
            </a:pPr>
            <a:r>
              <a:rPr lang="en-GB" sz="1400"/>
              <a:t>By tracking revenue and volume by segment, we can suggest actionable and targeted marketing strategies.</a:t>
            </a:r>
          </a:p>
        </p:txBody>
      </p:sp>
    </p:spTree>
    <p:extLst>
      <p:ext uri="{BB962C8B-B14F-4D97-AF65-F5344CB8AC3E}">
        <p14:creationId xmlns:p14="http://schemas.microsoft.com/office/powerpoint/2010/main" val="396207298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3D6A16A3-4026-86C3-77E1-123E4689FC30}"/>
              </a:ext>
            </a:extLst>
          </p:cNvPr>
          <p:cNvSpPr>
            <a:spLocks noGrp="1"/>
          </p:cNvSpPr>
          <p:nvPr>
            <p:ph type="title"/>
          </p:nvPr>
        </p:nvSpPr>
        <p:spPr>
          <a:xfrm>
            <a:off x="2895600" y="764373"/>
            <a:ext cx="8610600" cy="1293028"/>
          </a:xfrm>
        </p:spPr>
        <p:txBody>
          <a:bodyPr vert="horz" lIns="91440" tIns="45720" rIns="91440" bIns="45720" rtlCol="0" anchor="ctr">
            <a:normAutofit/>
          </a:bodyPr>
          <a:lstStyle/>
          <a:p>
            <a:r>
              <a:rPr lang="en-US"/>
              <a:t>Data Cleaning in Python</a:t>
            </a:r>
          </a:p>
        </p:txBody>
      </p:sp>
      <p:sp>
        <p:nvSpPr>
          <p:cNvPr id="4" name="Content Placeholder 3">
            <a:extLst>
              <a:ext uri="{FF2B5EF4-FFF2-40B4-BE49-F238E27FC236}">
                <a16:creationId xmlns:a16="http://schemas.microsoft.com/office/drawing/2014/main" id="{D86243AC-B429-9EFC-5E71-42C625BF406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7333" y="2194560"/>
            <a:ext cx="5816600" cy="4024125"/>
          </a:xfrm>
        </p:spPr>
        <p:txBody>
          <a:bodyPr>
            <a:normAutofit/>
          </a:bodyPr>
          <a:lstStyle/>
          <a:p>
            <a:pPr marL="0" indent="0">
              <a:spcBef>
                <a:spcPts val="2500"/>
              </a:spcBef>
              <a:buFont typeface="Arial" panose="020B0604020202020204" pitchFamily="34" charset="0"/>
              <a:buNone/>
            </a:pPr>
            <a:r>
              <a:rPr lang="en-GB" sz="1400" b="1"/>
              <a:t>Essential Transaction Fields</a:t>
            </a:r>
          </a:p>
          <a:p>
            <a:pPr marL="0" lvl="1" indent="0">
              <a:buFont typeface="Arial" panose="020B0604020202020204" pitchFamily="34" charset="0"/>
              <a:buNone/>
            </a:pPr>
            <a:r>
              <a:rPr lang="en-GB" sz="1400"/>
              <a:t>Key columns like InvoiceDate, CustomerID, Quantity, and UnitPrice are vital for data analysis and business insights.</a:t>
            </a:r>
          </a:p>
          <a:p>
            <a:pPr marL="0" indent="0">
              <a:spcBef>
                <a:spcPts val="2500"/>
              </a:spcBef>
              <a:buFont typeface="Arial" panose="020B0604020202020204" pitchFamily="34" charset="0"/>
              <a:buNone/>
            </a:pPr>
            <a:r>
              <a:rPr lang="en-GB" sz="1400" b="1"/>
              <a:t>Cleaning and Standardization</a:t>
            </a:r>
          </a:p>
          <a:p>
            <a:pPr marL="0" lvl="1" indent="0">
              <a:buFont typeface="Arial" panose="020B0604020202020204" pitchFamily="34" charset="0"/>
              <a:buNone/>
            </a:pPr>
            <a:r>
              <a:rPr lang="en-GB" sz="1400"/>
              <a:t>Filled missing text, standardized IDs, and managed returns or cancellations to ensure consistent and reliable data quality.</a:t>
            </a:r>
          </a:p>
          <a:p>
            <a:pPr marL="0" indent="0">
              <a:spcBef>
                <a:spcPts val="2500"/>
              </a:spcBef>
              <a:buFont typeface="Arial" panose="020B0604020202020204" pitchFamily="34" charset="0"/>
              <a:buNone/>
            </a:pPr>
            <a:r>
              <a:rPr lang="en-GB" sz="1400" b="1"/>
              <a:t>Calculations and Quality Control</a:t>
            </a:r>
          </a:p>
          <a:p>
            <a:pPr marL="0" lvl="1" indent="0">
              <a:buFont typeface="Arial" panose="020B0604020202020204" pitchFamily="34" charset="0"/>
              <a:buNone/>
            </a:pPr>
            <a:r>
              <a:rPr lang="en-GB" sz="1400"/>
              <a:t>Calculated total sales, converted date formats, and removed duplicates or outliers for high-quality analytics results.</a:t>
            </a:r>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70F88252-54CA-4A1B-802B-EEFBE7DBC89C}"/>
              </a:ext>
            </a:extLst>
          </p:cNvPr>
          <p:cNvPicPr>
            <a:picLocks noGrp="1" noChangeAspect="1"/>
          </p:cNvPicPr>
          <p:nvPr>
            <p:ph sz="half" idx="1"/>
          </p:nvPr>
        </p:nvPicPr>
        <p:blipFill>
          <a:blip r:embed="rId4"/>
          <a:srcRect l="11523"/>
          <a:stretch>
            <a:fillRect/>
          </a:stretch>
        </p:blipFill>
        <p:spPr>
          <a:xfrm>
            <a:off x="6985000" y="2501159"/>
            <a:ext cx="4521200" cy="3410926"/>
          </a:xfrm>
          <a:prstGeom prst="rect">
            <a:avLst/>
          </a:prstGeom>
        </p:spPr>
      </p:pic>
    </p:spTree>
    <p:extLst>
      <p:ext uri="{BB962C8B-B14F-4D97-AF65-F5344CB8AC3E}">
        <p14:creationId xmlns:p14="http://schemas.microsoft.com/office/powerpoint/2010/main" val="422735874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CE2BD313-EC83-72DA-DB85-B870D1C84BF4}"/>
              </a:ext>
            </a:extLst>
          </p:cNvPr>
          <p:cNvSpPr>
            <a:spLocks noGrp="1"/>
          </p:cNvSpPr>
          <p:nvPr>
            <p:ph type="title"/>
          </p:nvPr>
        </p:nvSpPr>
        <p:spPr>
          <a:xfrm>
            <a:off x="2895600" y="764373"/>
            <a:ext cx="8610600" cy="1293028"/>
          </a:xfrm>
        </p:spPr>
        <p:txBody>
          <a:bodyPr vert="horz" lIns="91440" tIns="45720" rIns="91440" bIns="45720" rtlCol="0" anchor="ctr">
            <a:normAutofit/>
          </a:bodyPr>
          <a:lstStyle/>
          <a:p>
            <a:r>
              <a:rPr lang="en-US"/>
              <a:t>Key EDA Insights in Python</a:t>
            </a:r>
          </a:p>
        </p:txBody>
      </p:sp>
      <p:sp>
        <p:nvSpPr>
          <p:cNvPr id="4" name="Content Placeholder 3">
            <a:extLst>
              <a:ext uri="{FF2B5EF4-FFF2-40B4-BE49-F238E27FC236}">
                <a16:creationId xmlns:a16="http://schemas.microsoft.com/office/drawing/2014/main" id="{8990A574-85D1-C5EC-FF9B-5F6E1AE6EF0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7333" y="2194560"/>
            <a:ext cx="5816600" cy="4024125"/>
          </a:xfrm>
        </p:spPr>
        <p:txBody>
          <a:bodyPr>
            <a:normAutofit/>
          </a:bodyPr>
          <a:lstStyle/>
          <a:p>
            <a:pPr marL="0" indent="0">
              <a:spcBef>
                <a:spcPts val="2500"/>
              </a:spcBef>
              <a:buFont typeface="Arial" panose="020B0604020202020204" pitchFamily="34" charset="0"/>
              <a:buNone/>
            </a:pPr>
            <a:r>
              <a:rPr lang="en-GB" sz="1400" b="1"/>
              <a:t>Seasonal Sales Patterns</a:t>
            </a:r>
          </a:p>
          <a:p>
            <a:pPr marL="0" lvl="1" indent="0">
              <a:buFont typeface="Arial" panose="020B0604020202020204" pitchFamily="34" charset="0"/>
              <a:buNone/>
            </a:pPr>
            <a:r>
              <a:rPr lang="en-GB" sz="1400"/>
              <a:t>Sales peak at year-end and dip mid-year, highlighting a strong seasonality in purchasing behavior.</a:t>
            </a:r>
          </a:p>
          <a:p>
            <a:pPr marL="0" indent="0">
              <a:spcBef>
                <a:spcPts val="2500"/>
              </a:spcBef>
              <a:buFont typeface="Arial" panose="020B0604020202020204" pitchFamily="34" charset="0"/>
              <a:buNone/>
            </a:pPr>
            <a:r>
              <a:rPr lang="en-GB" sz="1400" b="1"/>
              <a:t>Weekday Sales Trends</a:t>
            </a:r>
          </a:p>
          <a:p>
            <a:pPr marL="0" lvl="1" indent="0">
              <a:buFont typeface="Arial" panose="020B0604020202020204" pitchFamily="34" charset="0"/>
              <a:buNone/>
            </a:pPr>
            <a:r>
              <a:rPr lang="en-GB" sz="1400"/>
              <a:t>Sales are stronger mid-week than on weekends, revealing a clear weekday pattern in consumer activity.</a:t>
            </a:r>
          </a:p>
          <a:p>
            <a:pPr marL="0" indent="0">
              <a:spcBef>
                <a:spcPts val="2500"/>
              </a:spcBef>
              <a:buFont typeface="Arial" panose="020B0604020202020204" pitchFamily="34" charset="0"/>
              <a:buNone/>
            </a:pPr>
            <a:r>
              <a:rPr lang="en-GB" sz="1400" b="1"/>
              <a:t>Market Concentration</a:t>
            </a:r>
          </a:p>
          <a:p>
            <a:pPr marL="0" lvl="1" indent="0">
              <a:buFont typeface="Arial" panose="020B0604020202020204" pitchFamily="34" charset="0"/>
              <a:buNone/>
            </a:pPr>
            <a:r>
              <a:rPr lang="en-GB" sz="1400"/>
              <a:t>A few countries account for the majority of total sales, showing significant market concentration.</a:t>
            </a:r>
          </a:p>
          <a:p>
            <a:pPr marL="0" indent="0">
              <a:spcBef>
                <a:spcPts val="2500"/>
              </a:spcBef>
              <a:buFont typeface="Arial" panose="020B0604020202020204" pitchFamily="34" charset="0"/>
              <a:buNone/>
            </a:pPr>
            <a:r>
              <a:rPr lang="en-GB" sz="1400" b="1"/>
              <a:t>Diverse Basket Values</a:t>
            </a:r>
          </a:p>
          <a:p>
            <a:pPr marL="0" lvl="1" indent="0">
              <a:buFont typeface="Arial" panose="020B0604020202020204" pitchFamily="34" charset="0"/>
              <a:buNone/>
            </a:pPr>
            <a:r>
              <a:rPr lang="en-GB" sz="1400"/>
              <a:t>Average basket value varies by month and customer segment, suggesting differences in purchasing behavior.</a:t>
            </a:r>
          </a:p>
        </p:txBody>
      </p:sp>
      <p:pic>
        <p:nvPicPr>
          <p:cNvPr id="5" name="Content Placeholder 4" descr="Shot of a businessman looking thoughtfully at a graph against a white background">
            <a:extLst>
              <a:ext uri="{FF2B5EF4-FFF2-40B4-BE49-F238E27FC236}">
                <a16:creationId xmlns:a16="http://schemas.microsoft.com/office/drawing/2014/main" id="{D0B0206A-831D-4177-86F7-08DB6864D7A8}"/>
              </a:ext>
            </a:extLst>
          </p:cNvPr>
          <p:cNvPicPr>
            <a:picLocks noGrp="1" noChangeAspect="1"/>
          </p:cNvPicPr>
          <p:nvPr>
            <p:ph sz="half" idx="1"/>
          </p:nvPr>
        </p:nvPicPr>
        <p:blipFill>
          <a:blip r:embed="rId4"/>
          <a:srcRect r="11523"/>
          <a:stretch>
            <a:fillRect/>
          </a:stretch>
        </p:blipFill>
        <p:spPr>
          <a:xfrm>
            <a:off x="6985000" y="2501159"/>
            <a:ext cx="4521200" cy="3410926"/>
          </a:xfrm>
          <a:prstGeom prst="rect">
            <a:avLst/>
          </a:prstGeom>
        </p:spPr>
      </p:pic>
    </p:spTree>
    <p:extLst>
      <p:ext uri="{BB962C8B-B14F-4D97-AF65-F5344CB8AC3E}">
        <p14:creationId xmlns:p14="http://schemas.microsoft.com/office/powerpoint/2010/main" val="352473901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6DF330-0345-18D7-2551-70C71EB66C15}"/>
              </a:ext>
            </a:extLst>
          </p:cNvPr>
          <p:cNvSpPr>
            <a:spLocks noGrp="1"/>
          </p:cNvSpPr>
          <p:nvPr>
            <p:ph type="title"/>
          </p:nvPr>
        </p:nvSpPr>
        <p:spPr>
          <a:xfrm>
            <a:off x="4090507" y="764372"/>
            <a:ext cx="7434070" cy="1432289"/>
          </a:xfrm>
        </p:spPr>
        <p:txBody>
          <a:bodyPr>
            <a:normAutofit/>
          </a:bodyPr>
          <a:lstStyle/>
          <a:p>
            <a:r>
              <a:rPr lang="en-GB"/>
              <a:t>RFM &amp; Deciling Method</a:t>
            </a:r>
          </a:p>
        </p:txBody>
      </p:sp>
      <p:sp>
        <p:nvSpPr>
          <p:cNvPr id="11" name="Rectangle 10">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3" name="Picture 12">
            <a:extLst>
              <a:ext uri="{FF2B5EF4-FFF2-40B4-BE49-F238E27FC236}">
                <a16:creationId xmlns:a16="http://schemas.microsoft.com/office/drawing/2014/main" id="{1E4917B9-5D95-4999-9E13-3568EDD423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531" r="43746" b="531"/>
          <a:stretch/>
        </p:blipFill>
        <p:spPr>
          <a:xfrm rot="5400000" flipH="1" flipV="1">
            <a:off x="-1264032" y="2187576"/>
            <a:ext cx="6857999" cy="2482850"/>
          </a:xfrm>
          <a:prstGeom prst="rect">
            <a:avLst/>
          </a:prstGeom>
        </p:spPr>
      </p:pic>
      <p:graphicFrame>
        <p:nvGraphicFramePr>
          <p:cNvPr id="4" name="Content Placeholder 4">
            <a:extLst>
              <a:ext uri="{FF2B5EF4-FFF2-40B4-BE49-F238E27FC236}">
                <a16:creationId xmlns:a16="http://schemas.microsoft.com/office/drawing/2014/main" id="{71CF69AA-56BB-4666-9105-EBC5C6061CA2}"/>
              </a:ext>
            </a:extLst>
          </p:cNvPr>
          <p:cNvGraphicFramePr>
            <a:graphicFrameLocks noGrp="1"/>
          </p:cNvGraphicFramePr>
          <p:nvPr>
            <p:ph idx="1"/>
            <p:extLst>
              <p:ext uri="{D42A27DB-BD31-4B8C-83A1-F6EECF244321}">
                <p14:modId xmlns:p14="http://schemas.microsoft.com/office/powerpoint/2010/main" val="336413027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90507" y="2628900"/>
          <a:ext cx="7454077" cy="35897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4571393"/>
      </p:ext>
    </p:extLst>
  </p:cSld>
  <p:clrMapOvr>
    <a:overrideClrMapping bg1="lt1" tx1="dk1" bg2="lt2" tx2="dk2" accent1="accent1" accent2="accent2" accent3="accent3" accent4="accent4" accent5="accent5" accent6="accent6" hlink="hlink" folHlink="folHlink"/>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A0B4E5C-BC7C-04FB-9E3A-E620BADFC73D}"/>
              </a:ext>
            </a:extLst>
          </p:cNvPr>
          <p:cNvSpPr>
            <a:spLocks noGrp="1"/>
          </p:cNvSpPr>
          <p:nvPr>
            <p:ph type="title"/>
          </p:nvPr>
        </p:nvSpPr>
        <p:spPr>
          <a:xfrm>
            <a:off x="2887134" y="639315"/>
            <a:ext cx="8610599" cy="1295400"/>
          </a:xfrm>
        </p:spPr>
        <p:txBody>
          <a:bodyPr/>
          <a:lstStyle/>
          <a:p>
            <a:r>
              <a:rPr lang="en-GB" dirty="0"/>
              <a:t>KPI Summary</a:t>
            </a:r>
          </a:p>
        </p:txBody>
      </p:sp>
      <p:sp>
        <p:nvSpPr>
          <p:cNvPr id="8" name="Text Placeholder 7">
            <a:extLst>
              <a:ext uri="{FF2B5EF4-FFF2-40B4-BE49-F238E27FC236}">
                <a16:creationId xmlns:a16="http://schemas.microsoft.com/office/drawing/2014/main" id="{32AB2AE7-4E2C-031D-AB91-AA4A21738126}"/>
              </a:ext>
            </a:extLst>
          </p:cNvPr>
          <p:cNvSpPr>
            <a:spLocks noGrp="1"/>
          </p:cNvSpPr>
          <p:nvPr>
            <p:ph type="body" idx="1"/>
          </p:nvPr>
        </p:nvSpPr>
        <p:spPr>
          <a:xfrm>
            <a:off x="681084" y="4629150"/>
            <a:ext cx="3456469" cy="314465"/>
          </a:xfrm>
        </p:spPr>
        <p:txBody>
          <a:bodyPr>
            <a:normAutofit fontScale="85000" lnSpcReduction="20000"/>
          </a:bodyPr>
          <a:lstStyle/>
          <a:p>
            <a:pPr algn="ctr"/>
            <a:r>
              <a:rPr lang="en-GB" dirty="0"/>
              <a:t>Active Customer Base</a:t>
            </a:r>
          </a:p>
          <a:p>
            <a:pPr algn="ctr"/>
            <a:endParaRPr lang="en-GB" dirty="0"/>
          </a:p>
        </p:txBody>
      </p:sp>
      <p:pic>
        <p:nvPicPr>
          <p:cNvPr id="6" name="Picture Placeholder 5">
            <a:extLst>
              <a:ext uri="{FF2B5EF4-FFF2-40B4-BE49-F238E27FC236}">
                <a16:creationId xmlns:a16="http://schemas.microsoft.com/office/drawing/2014/main" id="{2EC86E42-29E6-CA1F-DBAC-330C70F2B405}"/>
              </a:ext>
            </a:extLst>
          </p:cNvPr>
          <p:cNvPicPr>
            <a:picLocks noGrp="1" noChangeAspect="1"/>
          </p:cNvPicPr>
          <p:nvPr>
            <p:ph type="pic" idx="15"/>
          </p:nvPr>
        </p:nvPicPr>
        <p:blipFill>
          <a:blip r:embed="rId2"/>
          <a:srcRect l="4197" r="4197"/>
          <a:stretch/>
        </p:blipFill>
        <p:spPr>
          <a:prstGeom prst="rect">
            <a:avLst/>
          </a:prstGeom>
        </p:spPr>
      </p:pic>
      <p:sp>
        <p:nvSpPr>
          <p:cNvPr id="11" name="Text Placeholder 10">
            <a:extLst>
              <a:ext uri="{FF2B5EF4-FFF2-40B4-BE49-F238E27FC236}">
                <a16:creationId xmlns:a16="http://schemas.microsoft.com/office/drawing/2014/main" id="{DEC92D37-956E-31B3-D974-F733CB2F449F}"/>
              </a:ext>
            </a:extLst>
          </p:cNvPr>
          <p:cNvSpPr>
            <a:spLocks noGrp="1"/>
          </p:cNvSpPr>
          <p:nvPr>
            <p:ph type="body" sz="half" idx="18"/>
          </p:nvPr>
        </p:nvSpPr>
        <p:spPr/>
        <p:txBody>
          <a:bodyPr/>
          <a:lstStyle/>
          <a:p>
            <a:r>
              <a:rPr lang="en-GB" dirty="0"/>
              <a:t>There are approximately 2,899 active customers, indicating a robust and engaged user base.</a:t>
            </a:r>
          </a:p>
          <a:p>
            <a:endParaRPr lang="en-GB" dirty="0"/>
          </a:p>
        </p:txBody>
      </p:sp>
      <p:sp>
        <p:nvSpPr>
          <p:cNvPr id="9" name="Text Placeholder 8">
            <a:extLst>
              <a:ext uri="{FF2B5EF4-FFF2-40B4-BE49-F238E27FC236}">
                <a16:creationId xmlns:a16="http://schemas.microsoft.com/office/drawing/2014/main" id="{660DFBE0-22E7-493B-020D-9FA6BDC312D6}"/>
              </a:ext>
            </a:extLst>
          </p:cNvPr>
          <p:cNvSpPr>
            <a:spLocks noGrp="1"/>
          </p:cNvSpPr>
          <p:nvPr>
            <p:ph type="body" sz="quarter" idx="3"/>
          </p:nvPr>
        </p:nvSpPr>
        <p:spPr>
          <a:xfrm>
            <a:off x="4366730" y="4508496"/>
            <a:ext cx="3456469" cy="390665"/>
          </a:xfrm>
        </p:spPr>
        <p:txBody>
          <a:bodyPr>
            <a:normAutofit fontScale="77500" lnSpcReduction="20000"/>
          </a:bodyPr>
          <a:lstStyle/>
          <a:p>
            <a:pPr algn="ctr"/>
            <a:r>
              <a:rPr lang="en-GB" sz="2600" dirty="0"/>
              <a:t>Revenue</a:t>
            </a:r>
            <a:r>
              <a:rPr lang="en-GB" dirty="0"/>
              <a:t> and Sales Volume</a:t>
            </a:r>
          </a:p>
          <a:p>
            <a:pPr algn="ctr"/>
            <a:endParaRPr lang="en-GB" dirty="0"/>
          </a:p>
        </p:txBody>
      </p:sp>
      <p:pic>
        <p:nvPicPr>
          <p:cNvPr id="17" name="Picture Placeholder 16">
            <a:extLst>
              <a:ext uri="{FF2B5EF4-FFF2-40B4-BE49-F238E27FC236}">
                <a16:creationId xmlns:a16="http://schemas.microsoft.com/office/drawing/2014/main" id="{3B21F70E-4BC9-4590-F356-75DAE74AA628}"/>
              </a:ext>
            </a:extLst>
          </p:cNvPr>
          <p:cNvPicPr>
            <a:picLocks noGrp="1" noChangeAspect="1"/>
          </p:cNvPicPr>
          <p:nvPr>
            <p:ph type="pic" idx="21"/>
          </p:nvPr>
        </p:nvPicPr>
        <p:blipFill>
          <a:blip r:embed="rId3">
            <a:extLst>
              <a:ext uri="{28A0092B-C50C-407E-A947-70E740481C1C}">
                <a14:useLocalDpi xmlns:a14="http://schemas.microsoft.com/office/drawing/2010/main" val="0"/>
              </a:ext>
            </a:extLst>
          </a:blip>
          <a:srcRect l="4964" r="4964"/>
          <a:stretch>
            <a:fillRect/>
          </a:stretch>
        </p:blipFill>
        <p:spPr/>
      </p:pic>
      <p:sp>
        <p:nvSpPr>
          <p:cNvPr id="12" name="Text Placeholder 11">
            <a:extLst>
              <a:ext uri="{FF2B5EF4-FFF2-40B4-BE49-F238E27FC236}">
                <a16:creationId xmlns:a16="http://schemas.microsoft.com/office/drawing/2014/main" id="{4F84DD0B-5AD4-E87C-D70F-DEF6E212CDA9}"/>
              </a:ext>
            </a:extLst>
          </p:cNvPr>
          <p:cNvSpPr>
            <a:spLocks noGrp="1"/>
          </p:cNvSpPr>
          <p:nvPr>
            <p:ph type="body" sz="half" idx="19"/>
          </p:nvPr>
        </p:nvSpPr>
        <p:spPr/>
        <p:txBody>
          <a:bodyPr/>
          <a:lstStyle/>
          <a:p>
            <a:r>
              <a:rPr lang="en-GB" dirty="0"/>
              <a:t>Total Revenue has reached $2.15M, driven by sales of about 1.0M units.</a:t>
            </a:r>
          </a:p>
          <a:p>
            <a:endParaRPr lang="en-GB" dirty="0"/>
          </a:p>
        </p:txBody>
      </p:sp>
      <p:sp>
        <p:nvSpPr>
          <p:cNvPr id="10" name="Text Placeholder 9">
            <a:extLst>
              <a:ext uri="{FF2B5EF4-FFF2-40B4-BE49-F238E27FC236}">
                <a16:creationId xmlns:a16="http://schemas.microsoft.com/office/drawing/2014/main" id="{C8726C4A-292D-E53B-9652-64C7F9F09501}"/>
              </a:ext>
            </a:extLst>
          </p:cNvPr>
          <p:cNvSpPr>
            <a:spLocks noGrp="1"/>
          </p:cNvSpPr>
          <p:nvPr>
            <p:ph type="body" sz="quarter" idx="13"/>
          </p:nvPr>
        </p:nvSpPr>
        <p:spPr>
          <a:xfrm>
            <a:off x="7830733" y="3927475"/>
            <a:ext cx="4133850" cy="1111250"/>
          </a:xfrm>
        </p:spPr>
        <p:txBody>
          <a:bodyPr>
            <a:normAutofit/>
          </a:bodyPr>
          <a:lstStyle/>
          <a:p>
            <a:pPr algn="ctr"/>
            <a:r>
              <a:rPr lang="en-GB" sz="2000" dirty="0"/>
              <a:t>Interactive</a:t>
            </a:r>
            <a:r>
              <a:rPr lang="en-GB" dirty="0"/>
              <a:t> KPI Analytics</a:t>
            </a:r>
          </a:p>
          <a:p>
            <a:pPr algn="ctr"/>
            <a:endParaRPr lang="en-GB" dirty="0"/>
          </a:p>
        </p:txBody>
      </p:sp>
      <p:pic>
        <p:nvPicPr>
          <p:cNvPr id="19" name="Picture Placeholder 18" descr="A black text on a white background&#10;&#10;AI-generated content may be incorrect.">
            <a:extLst>
              <a:ext uri="{FF2B5EF4-FFF2-40B4-BE49-F238E27FC236}">
                <a16:creationId xmlns:a16="http://schemas.microsoft.com/office/drawing/2014/main" id="{853CADEB-F83E-A3C1-4512-81D5B987D186}"/>
              </a:ext>
            </a:extLst>
          </p:cNvPr>
          <p:cNvPicPr>
            <a:picLocks noGrp="1" noChangeAspect="1"/>
          </p:cNvPicPr>
          <p:nvPr>
            <p:ph type="pic" idx="22"/>
          </p:nvPr>
        </p:nvPicPr>
        <p:blipFill>
          <a:blip r:embed="rId4">
            <a:extLst>
              <a:ext uri="{28A0092B-C50C-407E-A947-70E740481C1C}">
                <a14:useLocalDpi xmlns:a14="http://schemas.microsoft.com/office/drawing/2010/main" val="0"/>
              </a:ext>
            </a:extLst>
          </a:blip>
          <a:srcRect l="4673" r="4673"/>
          <a:stretch>
            <a:fillRect/>
          </a:stretch>
        </p:blipFill>
        <p:spPr/>
      </p:pic>
      <p:sp>
        <p:nvSpPr>
          <p:cNvPr id="13" name="Text Placeholder 12">
            <a:extLst>
              <a:ext uri="{FF2B5EF4-FFF2-40B4-BE49-F238E27FC236}">
                <a16:creationId xmlns:a16="http://schemas.microsoft.com/office/drawing/2014/main" id="{C8022596-FCF0-E398-811A-CFB9F83A1AF6}"/>
              </a:ext>
            </a:extLst>
          </p:cNvPr>
          <p:cNvSpPr>
            <a:spLocks noGrp="1"/>
          </p:cNvSpPr>
          <p:nvPr>
            <p:ph type="body" sz="half" idx="20"/>
          </p:nvPr>
        </p:nvSpPr>
        <p:spPr/>
        <p:txBody>
          <a:bodyPr/>
          <a:lstStyle/>
          <a:p>
            <a:r>
              <a:rPr lang="en-GB" dirty="0"/>
              <a:t>Power BI slicers for Month and Country enable dynamic updates for all KPIs and visuals, supporting data-driven insights.</a:t>
            </a:r>
          </a:p>
          <a:p>
            <a:endParaRPr lang="en-GB" dirty="0"/>
          </a:p>
        </p:txBody>
      </p:sp>
    </p:spTree>
    <p:extLst>
      <p:ext uri="{BB962C8B-B14F-4D97-AF65-F5344CB8AC3E}">
        <p14:creationId xmlns:p14="http://schemas.microsoft.com/office/powerpoint/2010/main" val="3679891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03E9AE3C-7A10-CC28-472F-127388A6702D}"/>
              </a:ext>
            </a:extLst>
          </p:cNvPr>
          <p:cNvSpPr>
            <a:spLocks noGrp="1"/>
          </p:cNvSpPr>
          <p:nvPr>
            <p:ph type="title"/>
          </p:nvPr>
        </p:nvSpPr>
        <p:spPr>
          <a:xfrm>
            <a:off x="2574527" y="639315"/>
            <a:ext cx="9431606" cy="1293028"/>
          </a:xfrm>
        </p:spPr>
        <p:txBody>
          <a:bodyPr vert="horz" lIns="91440" tIns="45720" rIns="91440" bIns="45720" rtlCol="0" anchor="ctr">
            <a:normAutofit/>
          </a:bodyPr>
          <a:lstStyle/>
          <a:p>
            <a:r>
              <a:rPr lang="en-US" dirty="0"/>
              <a:t>Segmentation Snapshot Insights</a:t>
            </a:r>
          </a:p>
        </p:txBody>
      </p:sp>
      <p:sp>
        <p:nvSpPr>
          <p:cNvPr id="4" name="Content Placeholder 3">
            <a:extLst>
              <a:ext uri="{FF2B5EF4-FFF2-40B4-BE49-F238E27FC236}">
                <a16:creationId xmlns:a16="http://schemas.microsoft.com/office/drawing/2014/main" id="{667D1D26-BC4B-87C3-D237-8CD572CE897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760" y="2194560"/>
            <a:ext cx="6832600" cy="4024125"/>
          </a:xfrm>
        </p:spPr>
        <p:txBody>
          <a:bodyPr>
            <a:normAutofit/>
          </a:bodyPr>
          <a:lstStyle/>
          <a:p>
            <a:pPr marL="0" indent="0">
              <a:spcBef>
                <a:spcPts val="2500"/>
              </a:spcBef>
              <a:buFont typeface="Arial" panose="020B0604020202020204" pitchFamily="34" charset="0"/>
              <a:buNone/>
            </a:pPr>
            <a:r>
              <a:rPr lang="en-GB" sz="1400" b="1"/>
              <a:t>Loyal and High-Value Customers</a:t>
            </a:r>
          </a:p>
          <a:p>
            <a:pPr marL="0" lvl="1" indent="0">
              <a:buFont typeface="Arial" panose="020B0604020202020204" pitchFamily="34" charset="0"/>
              <a:buNone/>
            </a:pPr>
            <a:r>
              <a:rPr lang="en-GB" sz="1400"/>
              <a:t>A small group of loyal and high-value customers contributes a significant portion of total company revenue, highlighting their importance.</a:t>
            </a:r>
          </a:p>
          <a:p>
            <a:pPr marL="0" indent="0">
              <a:spcBef>
                <a:spcPts val="2500"/>
              </a:spcBef>
              <a:buFont typeface="Arial" panose="020B0604020202020204" pitchFamily="34" charset="0"/>
              <a:buNone/>
            </a:pPr>
            <a:r>
              <a:rPr lang="en-GB" sz="1400" b="1"/>
              <a:t>Opportunities in At-Risk Segments</a:t>
            </a:r>
          </a:p>
          <a:p>
            <a:pPr marL="0" lvl="1" indent="0">
              <a:buFont typeface="Arial" panose="020B0604020202020204" pitchFamily="34" charset="0"/>
              <a:buNone/>
            </a:pPr>
            <a:r>
              <a:rPr lang="en-GB" sz="1400"/>
              <a:t>At-risk and dormant segments offer growth potential through targeted reactivation strategies and personalized engagement.</a:t>
            </a:r>
          </a:p>
          <a:p>
            <a:pPr marL="0" indent="0">
              <a:spcBef>
                <a:spcPts val="2500"/>
              </a:spcBef>
              <a:buFont typeface="Arial" panose="020B0604020202020204" pitchFamily="34" charset="0"/>
              <a:buNone/>
            </a:pPr>
            <a:r>
              <a:rPr lang="en-GB" sz="1400" b="1"/>
              <a:t>R×F Matrix Analysis Overview</a:t>
            </a:r>
          </a:p>
          <a:p>
            <a:pPr marL="0" lvl="1" indent="0">
              <a:buFont typeface="Arial" panose="020B0604020202020204" pitchFamily="34" charset="0"/>
              <a:buNone/>
            </a:pPr>
            <a:r>
              <a:rPr lang="en-GB" sz="1400"/>
              <a:t>Approximately 2,854 customers are scored using the R×F matrix, providing a structured segmentation of the active customer base.</a:t>
            </a:r>
          </a:p>
        </p:txBody>
      </p:sp>
      <p:pic>
        <p:nvPicPr>
          <p:cNvPr id="8" name="Content Placeholder 7" descr="A colorful circle with numbers and text&#10;&#10;AI-generated content may be incorrect.">
            <a:extLst>
              <a:ext uri="{FF2B5EF4-FFF2-40B4-BE49-F238E27FC236}">
                <a16:creationId xmlns:a16="http://schemas.microsoft.com/office/drawing/2014/main" id="{6E357B8B-833C-CA3F-EB93-3B9D3E538325}"/>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7493631" y="2005001"/>
            <a:ext cx="4512502" cy="3073435"/>
          </a:xfrm>
        </p:spPr>
      </p:pic>
    </p:spTree>
    <p:extLst>
      <p:ext uri="{BB962C8B-B14F-4D97-AF65-F5344CB8AC3E}">
        <p14:creationId xmlns:p14="http://schemas.microsoft.com/office/powerpoint/2010/main" val="6807587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B28F6-047E-1A0A-2927-6EC5B347D304}"/>
              </a:ext>
            </a:extLst>
          </p:cNvPr>
          <p:cNvSpPr>
            <a:spLocks noGrp="1"/>
          </p:cNvSpPr>
          <p:nvPr>
            <p:ph type="title"/>
          </p:nvPr>
        </p:nvSpPr>
        <p:spPr/>
        <p:txBody>
          <a:bodyPr vert="horz" lIns="91440" tIns="45720" rIns="91440" bIns="45720" rtlCol="0" anchor="ctr">
            <a:normAutofit/>
          </a:bodyPr>
          <a:lstStyle/>
          <a:p>
            <a:r>
              <a:rPr lang="en-US" dirty="0"/>
              <a:t>Unpacking Revenue Trends</a:t>
            </a:r>
          </a:p>
        </p:txBody>
      </p:sp>
      <p:sp>
        <p:nvSpPr>
          <p:cNvPr id="22" name="Text Placeholder 21">
            <a:extLst>
              <a:ext uri="{FF2B5EF4-FFF2-40B4-BE49-F238E27FC236}">
                <a16:creationId xmlns:a16="http://schemas.microsoft.com/office/drawing/2014/main" id="{3674A42B-455C-8EAA-1CCC-DCFC44F89E45}"/>
              </a:ext>
            </a:extLst>
          </p:cNvPr>
          <p:cNvSpPr>
            <a:spLocks noGrp="1"/>
          </p:cNvSpPr>
          <p:nvPr>
            <p:ph type="body" idx="1"/>
          </p:nvPr>
        </p:nvSpPr>
        <p:spPr>
          <a:xfrm>
            <a:off x="682627" y="2183802"/>
            <a:ext cx="5311774" cy="823912"/>
          </a:xfrm>
        </p:spPr>
        <p:txBody>
          <a:bodyPr>
            <a:normAutofit/>
          </a:bodyPr>
          <a:lstStyle/>
          <a:p>
            <a:r>
              <a:rPr lang="en-GB" dirty="0"/>
              <a:t>Stacked area chart - </a:t>
            </a:r>
            <a:r>
              <a:rPr lang="en-GB" sz="1800" dirty="0"/>
              <a:t>segment contributions across months</a:t>
            </a:r>
          </a:p>
        </p:txBody>
      </p:sp>
      <p:pic>
        <p:nvPicPr>
          <p:cNvPr id="29" name="Content Placeholder 28" descr="A graph of a graph with numbers and lines&#10;&#10;AI-generated content may be incorrect.">
            <a:extLst>
              <a:ext uri="{FF2B5EF4-FFF2-40B4-BE49-F238E27FC236}">
                <a16:creationId xmlns:a16="http://schemas.microsoft.com/office/drawing/2014/main" id="{10D83009-D07D-86FC-C1DD-EA8DE41D4E5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65545" y="3262846"/>
            <a:ext cx="4420937" cy="2952729"/>
          </a:xfrm>
        </p:spPr>
      </p:pic>
      <p:sp>
        <p:nvSpPr>
          <p:cNvPr id="24" name="Text Placeholder 23">
            <a:extLst>
              <a:ext uri="{FF2B5EF4-FFF2-40B4-BE49-F238E27FC236}">
                <a16:creationId xmlns:a16="http://schemas.microsoft.com/office/drawing/2014/main" id="{7CC87DA4-8052-E1C9-29F3-439435888D3B}"/>
              </a:ext>
            </a:extLst>
          </p:cNvPr>
          <p:cNvSpPr>
            <a:spLocks noGrp="1"/>
          </p:cNvSpPr>
          <p:nvPr>
            <p:ph type="body" sz="quarter" idx="3"/>
          </p:nvPr>
        </p:nvSpPr>
        <p:spPr>
          <a:xfrm>
            <a:off x="6172200" y="2183802"/>
            <a:ext cx="5334000" cy="823912"/>
          </a:xfrm>
        </p:spPr>
        <p:txBody>
          <a:bodyPr>
            <a:normAutofit/>
          </a:bodyPr>
          <a:lstStyle/>
          <a:p>
            <a:r>
              <a:rPr lang="en-GB" dirty="0"/>
              <a:t>Line chart - </a:t>
            </a:r>
            <a:r>
              <a:rPr lang="en-GB" sz="1800" b="1" dirty="0"/>
              <a:t>Active customers</a:t>
            </a:r>
            <a:r>
              <a:rPr lang="en-GB" sz="1800" dirty="0"/>
              <a:t> trend peaking mid-year</a:t>
            </a:r>
          </a:p>
        </p:txBody>
      </p:sp>
      <p:pic>
        <p:nvPicPr>
          <p:cNvPr id="27" name="Content Placeholder 26" descr="A graph with a line going up&#10;&#10;AI-generated content may be incorrect.">
            <a:extLst>
              <a:ext uri="{FF2B5EF4-FFF2-40B4-BE49-F238E27FC236}">
                <a16:creationId xmlns:a16="http://schemas.microsoft.com/office/drawing/2014/main" id="{42A0750F-D414-7669-0AFB-A20DFF7FA809}"/>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096000" y="3337513"/>
            <a:ext cx="5416484" cy="2641255"/>
          </a:xfrm>
        </p:spPr>
      </p:pic>
    </p:spTree>
    <p:extLst>
      <p:ext uri="{BB962C8B-B14F-4D97-AF65-F5344CB8AC3E}">
        <p14:creationId xmlns:p14="http://schemas.microsoft.com/office/powerpoint/2010/main" val="11980567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1BDD-DD4D-81C6-E85F-5E639647648A}"/>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CDA16E61-892B-FAE2-0103-9B79277D9CD5}"/>
              </a:ext>
            </a:extLst>
          </p:cNvPr>
          <p:cNvSpPr>
            <a:spLocks noGrp="1"/>
          </p:cNvSpPr>
          <p:nvPr>
            <p:ph type="body" idx="1"/>
          </p:nvPr>
        </p:nvSpPr>
        <p:spPr/>
        <p:txBody>
          <a:bodyPr>
            <a:normAutofit/>
          </a:bodyPr>
          <a:lstStyle/>
          <a:p>
            <a:r>
              <a:rPr lang="en-GB" b="1" dirty="0"/>
              <a:t>Totals table</a:t>
            </a:r>
            <a:r>
              <a:rPr lang="en-GB" dirty="0"/>
              <a:t>: </a:t>
            </a:r>
            <a:r>
              <a:rPr lang="en-GB" sz="1800" dirty="0"/>
              <a:t>Revenue vs. Quantity sanity check</a:t>
            </a:r>
          </a:p>
        </p:txBody>
      </p:sp>
      <p:sp>
        <p:nvSpPr>
          <p:cNvPr id="5" name="Text Placeholder 4">
            <a:extLst>
              <a:ext uri="{FF2B5EF4-FFF2-40B4-BE49-F238E27FC236}">
                <a16:creationId xmlns:a16="http://schemas.microsoft.com/office/drawing/2014/main" id="{620309DB-2F71-47A5-1763-1DB0812911E3}"/>
              </a:ext>
            </a:extLst>
          </p:cNvPr>
          <p:cNvSpPr>
            <a:spLocks noGrp="1"/>
          </p:cNvSpPr>
          <p:nvPr>
            <p:ph type="body" sz="quarter" idx="3"/>
          </p:nvPr>
        </p:nvSpPr>
        <p:spPr/>
        <p:txBody>
          <a:bodyPr>
            <a:normAutofit/>
          </a:bodyPr>
          <a:lstStyle/>
          <a:p>
            <a:r>
              <a:rPr lang="en-GB" b="1" dirty="0"/>
              <a:t>Slicers chart</a:t>
            </a:r>
            <a:r>
              <a:rPr lang="en-GB" dirty="0"/>
              <a:t>: </a:t>
            </a:r>
            <a:r>
              <a:rPr lang="en-GB" sz="1800" b="1" dirty="0"/>
              <a:t>country-specific</a:t>
            </a:r>
            <a:r>
              <a:rPr lang="en-GB" sz="1800" dirty="0"/>
              <a:t> patterns</a:t>
            </a:r>
          </a:p>
        </p:txBody>
      </p:sp>
      <p:pic>
        <p:nvPicPr>
          <p:cNvPr id="10" name="Content Placeholder 9" descr="A screenshot of a computer&#10;&#10;AI-generated content may be incorrect.">
            <a:extLst>
              <a:ext uri="{FF2B5EF4-FFF2-40B4-BE49-F238E27FC236}">
                <a16:creationId xmlns:a16="http://schemas.microsoft.com/office/drawing/2014/main" id="{5ED85CEA-821F-556B-188F-D8DBC7E49143}"/>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315808" y="3429000"/>
            <a:ext cx="5275383" cy="1856935"/>
          </a:xfrm>
        </p:spPr>
      </p:pic>
      <p:pic>
        <p:nvPicPr>
          <p:cNvPr id="14" name="Content Placeholder 13" descr="A black text on a white background&#10;&#10;AI-generated content may be incorrect.">
            <a:extLst>
              <a:ext uri="{FF2B5EF4-FFF2-40B4-BE49-F238E27FC236}">
                <a16:creationId xmlns:a16="http://schemas.microsoft.com/office/drawing/2014/main" id="{D9F31B4B-E2CB-8191-9EAD-7A8B49EEDEC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35302" y="3664633"/>
            <a:ext cx="5559098" cy="1474864"/>
          </a:xfrm>
        </p:spPr>
      </p:pic>
    </p:spTree>
    <p:extLst>
      <p:ext uri="{BB962C8B-B14F-4D97-AF65-F5344CB8AC3E}">
        <p14:creationId xmlns:p14="http://schemas.microsoft.com/office/powerpoint/2010/main" val="3761559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19" name="Rectangle 18">
            <a:extLst>
              <a:ext uri="{FF2B5EF4-FFF2-40B4-BE49-F238E27FC236}">
                <a16:creationId xmlns:a16="http://schemas.microsoft.com/office/drawing/2014/main" id="{1EA5387D-64D8-4D6C-B109-FF4E81DF6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Men and women to work at the desk">
            <a:extLst>
              <a:ext uri="{FF2B5EF4-FFF2-40B4-BE49-F238E27FC236}">
                <a16:creationId xmlns:a16="http://schemas.microsoft.com/office/drawing/2014/main" id="{E16B9EFF-7439-4282-B9FB-66374FD4316A}"/>
              </a:ext>
            </a:extLst>
          </p:cNvPr>
          <p:cNvPicPr>
            <a:picLocks noGrp="1" noChangeAspect="1"/>
          </p:cNvPicPr>
          <p:nvPr>
            <p:ph sz="half" idx="1"/>
          </p:nvPr>
        </p:nvPicPr>
        <p:blipFill>
          <a:blip r:embed="rId4">
            <a:alphaModFix amt="30000"/>
          </a:blip>
          <a:srcRect t="7865" b="786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95569A0-A222-A708-B0FA-C84E4CE548A6}"/>
              </a:ext>
            </a:extLst>
          </p:cNvPr>
          <p:cNvSpPr>
            <a:spLocks noGrp="1"/>
          </p:cNvSpPr>
          <p:nvPr>
            <p:ph type="title"/>
          </p:nvPr>
        </p:nvSpPr>
        <p:spPr>
          <a:xfrm>
            <a:off x="2895600" y="764373"/>
            <a:ext cx="8610600" cy="1293028"/>
          </a:xfrm>
        </p:spPr>
        <p:txBody>
          <a:bodyPr vert="horz" lIns="91440" tIns="45720" rIns="91440" bIns="45720" rtlCol="0" anchor="ctr">
            <a:normAutofit/>
          </a:bodyPr>
          <a:lstStyle/>
          <a:p>
            <a:r>
              <a:rPr lang="en-US"/>
              <a:t>Unlocking Revenue Opportunities</a:t>
            </a:r>
          </a:p>
        </p:txBody>
      </p:sp>
      <p:sp>
        <p:nvSpPr>
          <p:cNvPr id="4" name="Content Placeholder 3">
            <a:extLst>
              <a:ext uri="{FF2B5EF4-FFF2-40B4-BE49-F238E27FC236}">
                <a16:creationId xmlns:a16="http://schemas.microsoft.com/office/drawing/2014/main" id="{FEAC4AEA-13E9-5724-2637-70F93A9C940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5800" y="2194560"/>
            <a:ext cx="10820400" cy="4024125"/>
          </a:xfrm>
        </p:spPr>
        <p:txBody>
          <a:bodyPr>
            <a:normAutofit/>
          </a:bodyPr>
          <a:lstStyle/>
          <a:p>
            <a:pPr marL="0" indent="0">
              <a:spcBef>
                <a:spcPts val="2500"/>
              </a:spcBef>
              <a:buFont typeface="Arial" panose="020B0604020202020204" pitchFamily="34" charset="0"/>
              <a:buNone/>
            </a:pPr>
            <a:r>
              <a:rPr lang="en-GB" sz="1400" b="1"/>
              <a:t>Focus on High-Value Customers</a:t>
            </a:r>
          </a:p>
          <a:p>
            <a:pPr marL="0" lvl="1" indent="0">
              <a:buFont typeface="Arial" panose="020B0604020202020204" pitchFamily="34" charset="0"/>
              <a:buNone/>
            </a:pPr>
            <a:r>
              <a:rPr lang="en-GB" sz="1400"/>
              <a:t>The top customer deciles drive most revenue, making it crucial to prioritize high-value segments for growth.</a:t>
            </a:r>
          </a:p>
          <a:p>
            <a:pPr marL="0" indent="0">
              <a:spcBef>
                <a:spcPts val="2500"/>
              </a:spcBef>
              <a:buFont typeface="Arial" panose="020B0604020202020204" pitchFamily="34" charset="0"/>
              <a:buNone/>
            </a:pPr>
            <a:r>
              <a:rPr lang="en-GB" sz="1400" b="1"/>
              <a:t>Retention Maximizes Lifetime Value</a:t>
            </a:r>
          </a:p>
          <a:p>
            <a:pPr marL="0" lvl="1" indent="0">
              <a:buFont typeface="Arial" panose="020B0604020202020204" pitchFamily="34" charset="0"/>
              <a:buNone/>
            </a:pPr>
            <a:r>
              <a:rPr lang="en-GB" sz="1400"/>
              <a:t>Retention strategies should target loyal customers to boost engagement and optimize long-term revenue streams.</a:t>
            </a:r>
          </a:p>
          <a:p>
            <a:pPr marL="0" indent="0">
              <a:spcBef>
                <a:spcPts val="2500"/>
              </a:spcBef>
              <a:buFont typeface="Arial" panose="020B0604020202020204" pitchFamily="34" charset="0"/>
              <a:buNone/>
            </a:pPr>
            <a:r>
              <a:rPr lang="en-GB" sz="1400" b="1"/>
              <a:t>Win-Back At-Risk and Dormant Customers</a:t>
            </a:r>
          </a:p>
          <a:p>
            <a:pPr marL="0" lvl="1" indent="0">
              <a:buFont typeface="Arial" panose="020B0604020202020204" pitchFamily="34" charset="0"/>
              <a:buNone/>
            </a:pPr>
            <a:r>
              <a:rPr lang="en-GB" sz="1400"/>
              <a:t>A large segment of at-risk and dormant customers can be reactivated with win-back initiatives, especially with seasonal offers.</a:t>
            </a:r>
          </a:p>
        </p:txBody>
      </p:sp>
    </p:spTree>
    <p:extLst>
      <p:ext uri="{BB962C8B-B14F-4D97-AF65-F5344CB8AC3E}">
        <p14:creationId xmlns:p14="http://schemas.microsoft.com/office/powerpoint/2010/main" val="30977178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A22DDE2-FB2D-421B-B377-F9AD495CE9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useBgFill="1">
        <p:nvSpPr>
          <p:cNvPr id="17" name="Rectangle 16">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23E94DE7-760F-2433-885F-5DA8BCB593B2}"/>
              </a:ext>
            </a:extLst>
          </p:cNvPr>
          <p:cNvSpPr>
            <a:spLocks noGrp="1"/>
          </p:cNvSpPr>
          <p:nvPr>
            <p:ph type="title" idx="4294967295"/>
          </p:nvPr>
        </p:nvSpPr>
        <p:spPr>
          <a:xfrm>
            <a:off x="683609" y="764372"/>
            <a:ext cx="3173688" cy="5216013"/>
          </a:xfrm>
        </p:spPr>
        <p:txBody>
          <a:bodyPr vert="horz" lIns="91440" tIns="45720" rIns="91440" bIns="45720" rtlCol="0" anchor="ctr">
            <a:normAutofit/>
          </a:bodyPr>
          <a:lstStyle/>
          <a:p>
            <a:r>
              <a:rPr lang="en-US"/>
              <a:t>Effective Customer Retention Strategies</a:t>
            </a:r>
          </a:p>
        </p:txBody>
      </p:sp>
      <p:cxnSp>
        <p:nvCxnSpPr>
          <p:cNvPr id="18" name="Straight Connector 17">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Content Placeholder 3">
            <a:extLst>
              <a:ext uri="{FF2B5EF4-FFF2-40B4-BE49-F238E27FC236}">
                <a16:creationId xmlns:a16="http://schemas.microsoft.com/office/drawing/2014/main" id="{348AFA1A-4E92-BE51-CB81-D232A9C83245}"/>
              </a:ext>
            </a:extLst>
          </p:cNvPr>
          <p:cNvSpPr>
            <a:spLocks noGrp="1"/>
          </p:cNvSpPr>
          <p:nvPr>
            <p:ph sz="half"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70138" y="764372"/>
            <a:ext cx="7086600" cy="5216013"/>
          </a:xfrm>
        </p:spPr>
        <p:txBody>
          <a:bodyPr>
            <a:normAutofit/>
          </a:bodyPr>
          <a:lstStyle/>
          <a:p>
            <a:pPr marL="0" indent="0">
              <a:spcBef>
                <a:spcPts val="2500"/>
              </a:spcBef>
              <a:buFont typeface="Arial" panose="020B0604020202020204" pitchFamily="34" charset="0"/>
              <a:buNone/>
            </a:pPr>
            <a:r>
              <a:rPr lang="en-GB" sz="1400" b="1"/>
              <a:t>Tiered Loyalty Programs</a:t>
            </a:r>
          </a:p>
          <a:p>
            <a:pPr marL="0" lvl="1" indent="0">
              <a:buFont typeface="Arial" panose="020B0604020202020204" pitchFamily="34" charset="0"/>
              <a:buNone/>
            </a:pPr>
            <a:r>
              <a:rPr lang="en-GB" sz="1400"/>
              <a:t>Tiered loyalty programs and VIP services provide exclusive perks, such as early-access drops, boosting customer retention and satisfaction.</a:t>
            </a:r>
          </a:p>
          <a:p>
            <a:pPr marL="0" indent="0">
              <a:spcBef>
                <a:spcPts val="2500"/>
              </a:spcBef>
              <a:buFont typeface="Arial" panose="020B0604020202020204" pitchFamily="34" charset="0"/>
              <a:buNone/>
            </a:pPr>
            <a:r>
              <a:rPr lang="en-GB" sz="1400" b="1"/>
              <a:t>Upselling and Cross-Selling</a:t>
            </a:r>
          </a:p>
          <a:p>
            <a:pPr marL="0" lvl="1" indent="0">
              <a:buFont typeface="Arial" panose="020B0604020202020204" pitchFamily="34" charset="0"/>
              <a:buNone/>
            </a:pPr>
            <a:r>
              <a:rPr lang="en-GB" sz="1400"/>
              <a:t>Upselling and cross-selling to mid-tier customers with curated bundles and personalized recommendations increase engagement and average order value.</a:t>
            </a:r>
          </a:p>
          <a:p>
            <a:pPr marL="0" indent="0">
              <a:spcBef>
                <a:spcPts val="2500"/>
              </a:spcBef>
              <a:buFont typeface="Arial" panose="020B0604020202020204" pitchFamily="34" charset="0"/>
              <a:buNone/>
            </a:pPr>
            <a:r>
              <a:rPr lang="en-GB" sz="1400" b="1"/>
              <a:t>Re-Engagement Campaigns</a:t>
            </a:r>
          </a:p>
          <a:p>
            <a:pPr marL="0" lvl="1" indent="0">
              <a:buFont typeface="Arial" panose="020B0604020202020204" pitchFamily="34" charset="0"/>
              <a:buNone/>
            </a:pPr>
            <a:r>
              <a:rPr lang="en-GB" sz="1400"/>
              <a:t>Re-engage inactive customers through win-back journeys and A/B tested offers to identify and deliver the most effective incentives.</a:t>
            </a:r>
          </a:p>
        </p:txBody>
      </p:sp>
    </p:spTree>
    <p:extLst>
      <p:ext uri="{BB962C8B-B14F-4D97-AF65-F5344CB8AC3E}">
        <p14:creationId xmlns:p14="http://schemas.microsoft.com/office/powerpoint/2010/main" val="3851024106"/>
      </p:ext>
    </p:extLst>
  </p:cSld>
  <p:clrMapOvr>
    <a:masterClrMapping/>
  </p:clrMapOvr>
  <p:transition>
    <p:fade/>
  </p:transition>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209</TotalTime>
  <Words>1252</Words>
  <Application>Microsoft Office PowerPoint</Application>
  <PresentationFormat>Widescreen</PresentationFormat>
  <Paragraphs>89</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Century Gothic</vt:lpstr>
      <vt:lpstr>Vapor Trail</vt:lpstr>
      <vt:lpstr>E-COMMERCE</vt:lpstr>
      <vt:lpstr>RFM Segmentation Insights</vt:lpstr>
      <vt:lpstr>Problem and Objective Overview</vt:lpstr>
      <vt:lpstr>Data Cleaning in Python</vt:lpstr>
      <vt:lpstr>Key EDA Insights in Python</vt:lpstr>
      <vt:lpstr>RFM &amp; Deciling Method</vt:lpstr>
      <vt:lpstr>KPI Summary</vt:lpstr>
      <vt:lpstr>Segmentation Snapshot Insights</vt:lpstr>
      <vt:lpstr>Unpacking Revenue Trends</vt:lpstr>
      <vt:lpstr>PowerPoint Presentation</vt:lpstr>
      <vt:lpstr>Unlocking Revenue Opportunities</vt:lpstr>
      <vt:lpstr>Effective Customer Retention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B</dc:creator>
  <cp:lastModifiedBy>akash B</cp:lastModifiedBy>
  <cp:revision>1</cp:revision>
  <dcterms:created xsi:type="dcterms:W3CDTF">2025-09-23T13:21:36Z</dcterms:created>
  <dcterms:modified xsi:type="dcterms:W3CDTF">2025-09-24T17:18:27Z</dcterms:modified>
</cp:coreProperties>
</file>